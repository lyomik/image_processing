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2" r:id="rId3"/>
    <p:sldId id="270" r:id="rId4"/>
    <p:sldId id="271" r:id="rId5"/>
    <p:sldId id="274" r:id="rId6"/>
    <p:sldId id="275" r:id="rId7"/>
    <p:sldId id="273" r:id="rId8"/>
    <p:sldId id="258" r:id="rId9"/>
    <p:sldId id="269" r:id="rId10"/>
    <p:sldId id="267" r:id="rId11"/>
    <p:sldId id="27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3jAldOCOlQ2K/yXtDqaxcGlxn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7528F06-2C3B-1A20-1457-AF36E7AA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3AD94A72-BFA5-7837-46C7-94BF7C1699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41425FB1-C3F6-73E8-17D6-A3FB0269F8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2627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EE1AEBB-07B5-5590-0CF5-08E39E164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749669E9-34BB-E9E7-20F2-D57CAD079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6B234248-9EB6-EB60-30EC-1E03DDFF80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9522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450E8FC-3DB6-F61B-C04B-C9AF0CA3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7E6252C0-CC10-5417-C0B1-B4B29B0E26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8F0AA44E-09B6-C6B7-1BC3-1C4923043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2185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5D89B12-369E-642C-C48C-1D7C5361C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8335277B-0364-37AA-8D1A-4298974768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B1F547F6-F803-4CF0-8448-7350BA752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060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028A9F9-7EFC-3402-39FA-01E52EC7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90D5AC28-32C0-2372-9CCA-03E4137C91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B62DC416-4227-1430-D481-D387A6B31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6060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FC7B57E2-24D8-01EB-2CBD-FDBB6E92D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648815C1-8B3C-E90E-578E-9B9E1713D1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31B30F4A-3533-6118-A370-190E44DCAC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335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6159DCD-9859-B381-C367-8001DFBBC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E51E5237-4F2E-F1E1-E83B-44853AEA99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8EF435E-4472-391C-20ED-D71AE99BD1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26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3F700A0-C5BD-51DC-CA79-09F34486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2D013DB0-2B5F-4FDE-C6DE-20156F62E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61F771B9-19E3-5D62-DE22-4C726922E4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0191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5536360-5B26-1349-78B4-597F6B007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1F0082CD-9586-B6E6-5E50-98A44F28E3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E789289-55F9-A0F4-20DF-23DC6C7135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7834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影像處理實習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Week </a:t>
            </a:r>
            <a:r>
              <a:rPr lang="en-US" altLang="zh-TW" sz="2000" dirty="0"/>
              <a:t>2</a:t>
            </a:r>
            <a:r>
              <a:rPr lang="en-US" sz="2000" dirty="0"/>
              <a:t>. </a:t>
            </a:r>
            <a:r>
              <a:rPr lang="zh-TW" altLang="en-US" sz="2000" dirty="0"/>
              <a:t>數位影像基礎</a:t>
            </a: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BC44933-281D-D276-D431-B7A448A12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179D4533-5D83-F6A5-D36D-AE8D3E13805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54370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zh-TW" altLang="en-US" dirty="0"/>
              <a:t>影像基礎 </a:t>
            </a:r>
            <a:r>
              <a:rPr lang="en-US" altLang="zh-TW" dirty="0"/>
              <a:t>-</a:t>
            </a:r>
            <a:r>
              <a:rPr lang="zh-TW" altLang="en-US" dirty="0"/>
              <a:t> 插值</a:t>
            </a:r>
            <a:endParaRPr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F96DF18B-ABD2-A4E5-2E40-3A13CA30975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0222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D44885F-A51E-F2C5-B07C-DE5EA769B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EB358C98-A95B-B21E-9799-B14B1E11F5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1.</a:t>
            </a:r>
            <a:r>
              <a:rPr lang="zh-TW" altLang="en-US" dirty="0"/>
              <a:t>插值法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4E35558-A456-487C-B05E-432C544F4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altLang="zh-TW" sz="2000" b="1" dirty="0"/>
              <a:t>1.</a:t>
            </a:r>
            <a:r>
              <a:rPr lang="zh-TW" altLang="en-US" sz="2000" b="1" dirty="0"/>
              <a:t>最鄰近插值法</a:t>
            </a:r>
            <a:endParaRPr lang="en-US" altLang="zh-TW" sz="2000" b="1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/>
              <a:t>直接選最鄰近的值作為縮放後圖片的新值。</a:t>
            </a:r>
            <a:endParaRPr lang="en-US" altLang="zh-TW" sz="2000"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6E924397-83F3-8A02-8944-262A02EC701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C86886DA-CB25-04E2-0B44-513CCD2A2E21}"/>
              </a:ext>
            </a:extLst>
          </p:cNvPr>
          <p:cNvGrpSpPr/>
          <p:nvPr/>
        </p:nvGrpSpPr>
        <p:grpSpPr>
          <a:xfrm>
            <a:off x="723704" y="5021024"/>
            <a:ext cx="10042069" cy="1155939"/>
            <a:chOff x="194786" y="2644588"/>
            <a:chExt cx="10042069" cy="1155939"/>
          </a:xfrm>
        </p:grpSpPr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3E5CCA6A-053D-08B9-3989-17AC1F751C7B}"/>
                </a:ext>
              </a:extLst>
            </p:cNvPr>
            <p:cNvSpPr txBox="1"/>
            <p:nvPr/>
          </p:nvSpPr>
          <p:spPr>
            <a:xfrm>
              <a:off x="950259" y="2644588"/>
              <a:ext cx="8937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800" dirty="0"/>
                <a:t>Step1.</a:t>
              </a:r>
              <a:r>
                <a:rPr lang="zh-TW" altLang="en-US" sz="1800" dirty="0"/>
                <a:t> 將點做縮放 </a:t>
              </a:r>
              <a:r>
                <a:rPr lang="en-US" altLang="zh-TW" sz="1800" dirty="0"/>
                <a:t>-&gt; Step2.</a:t>
              </a:r>
              <a:r>
                <a:rPr lang="zh-TW" altLang="en-US" sz="1800" dirty="0"/>
                <a:t>縮放後取四捨五入 </a:t>
              </a:r>
              <a:r>
                <a:rPr lang="en-US" altLang="zh-TW" sz="1800" dirty="0"/>
                <a:t>-&gt;</a:t>
              </a:r>
              <a:r>
                <a:rPr lang="zh-TW" altLang="en-US" sz="1800" dirty="0"/>
                <a:t> </a:t>
              </a:r>
              <a:r>
                <a:rPr lang="en-US" altLang="zh-TW" sz="1800" dirty="0"/>
                <a:t>Step3.</a:t>
              </a:r>
              <a:r>
                <a:rPr lang="zh-TW" altLang="en-US" sz="1800" dirty="0"/>
                <a:t>四捨五入的點成為插值點</a:t>
              </a:r>
              <a:r>
                <a:rPr lang="en-US" altLang="zh-TW" sz="1800" dirty="0"/>
                <a:t> </a:t>
              </a:r>
              <a:endParaRPr lang="zh-TW" altLang="en-US" sz="1800" dirty="0"/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2F08566A-980C-0A2D-F168-BD583DFBA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786" y="3148857"/>
              <a:ext cx="2819794" cy="64779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0C0B2DF6-5DF3-91B6-4EBF-85AAD7D9E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75051" y="3125441"/>
              <a:ext cx="2286319" cy="64779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21DED3E6-DBFD-9293-9041-7B15D3E66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59586" y="3057473"/>
              <a:ext cx="4077269" cy="7430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93737005-6113-C481-EA3C-5B18228D99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7732" y="227521"/>
            <a:ext cx="2971646" cy="41562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1279CBC8-7C40-3C42-0AC9-BABB37F4005B}"/>
              </a:ext>
            </a:extLst>
          </p:cNvPr>
          <p:cNvSpPr txBox="1"/>
          <p:nvPr/>
        </p:nvSpPr>
        <p:spPr>
          <a:xfrm>
            <a:off x="8084274" y="4456160"/>
            <a:ext cx="3892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https://ithelp.ithome.com.tw/m/articles/10292147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761751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1B81597-013D-2AEE-95BA-8739E8086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8C4775BB-0A9C-5E3C-5AE6-647079CDD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1.</a:t>
            </a:r>
            <a:r>
              <a:rPr lang="zh-TW" altLang="en-US" dirty="0"/>
              <a:t>插值法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953219C4-03C0-948D-B223-93A20BCBF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altLang="zh-TW" sz="2000" b="1" dirty="0"/>
              <a:t>2.</a:t>
            </a:r>
            <a:r>
              <a:rPr lang="zh-TW" altLang="en-US" sz="2000" b="1" dirty="0"/>
              <a:t>雙線性插值法</a:t>
            </a:r>
            <a:endParaRPr lang="en-US" altLang="zh-TW" sz="2000" b="1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/>
              <a:t>目標像素的位置通常會落在原圖中</a:t>
            </a:r>
            <a:r>
              <a:rPr lang="zh-TW" altLang="en-US" sz="2000" dirty="0">
                <a:solidFill>
                  <a:srgbClr val="FF0000"/>
                </a:solidFill>
              </a:rPr>
              <a:t>某四個像素點之間</a:t>
            </a:r>
            <a:r>
              <a:rPr lang="zh-TW" altLang="en-US" sz="2000" dirty="0"/>
              <a:t>，</a:t>
            </a:r>
            <a:endParaRPr lang="en-US" altLang="zh-TW" sz="20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/>
              <a:t>我們就利用這四個點的灰階值或顏色值，</a:t>
            </a:r>
            <a:endParaRPr lang="en-US" altLang="zh-TW" sz="20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/>
              <a:t>做</a:t>
            </a:r>
            <a:r>
              <a:rPr lang="zh-TW" altLang="en-US" sz="2000" dirty="0">
                <a:solidFill>
                  <a:srgbClr val="FF0000"/>
                </a:solidFill>
              </a:rPr>
              <a:t>「加權平均」</a:t>
            </a:r>
            <a:r>
              <a:rPr lang="zh-TW" altLang="en-US" sz="2000" dirty="0"/>
              <a:t>來估算出新像素的值。</a:t>
            </a:r>
            <a:endParaRPr lang="en-US" altLang="zh-TW" sz="20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/>
              <a:t>好處：</a:t>
            </a:r>
            <a:endParaRPr lang="en-US" altLang="zh-TW" sz="2000" dirty="0"/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zh-TW" altLang="en-US" sz="2000" dirty="0"/>
              <a:t>產生更平滑的結果</a:t>
            </a:r>
            <a:endParaRPr lang="en-US" altLang="zh-TW" sz="2000" dirty="0"/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zh-TW" altLang="en-US" sz="2000" dirty="0"/>
              <a:t>減少鋸齒效應</a:t>
            </a:r>
            <a:endParaRPr lang="en-US" altLang="zh-TW" sz="2000"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2808821D-8743-947E-D45C-7D0AE6903CF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28BE20F-7327-2461-A8AD-61037C65B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859" y="2147830"/>
            <a:ext cx="4337282" cy="37518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498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684E6ED-A3AD-3F8E-D67E-DD35E34C0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F720B534-0AD7-CD2D-F24C-2B51F9C4A8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1.</a:t>
            </a:r>
            <a:r>
              <a:rPr lang="zh-TW" altLang="en-US" dirty="0"/>
              <a:t>插值法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31333111-A35C-8FB7-0943-ECBE384D7E0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D496178-D4AE-9741-1B95-832700873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41" y="3694729"/>
            <a:ext cx="4544059" cy="116221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96C945C0-0035-8013-4FB5-6F2F06B8E555}"/>
              </a:ext>
            </a:extLst>
          </p:cNvPr>
          <p:cNvCxnSpPr>
            <a:cxnSpLocks/>
          </p:cNvCxnSpPr>
          <p:nvPr/>
        </p:nvCxnSpPr>
        <p:spPr>
          <a:xfrm>
            <a:off x="7100047" y="1416424"/>
            <a:ext cx="4007224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65789FF9-B8B8-A2CA-7259-49C695563A80}"/>
              </a:ext>
            </a:extLst>
          </p:cNvPr>
          <p:cNvCxnSpPr>
            <a:cxnSpLocks/>
          </p:cNvCxnSpPr>
          <p:nvPr/>
        </p:nvCxnSpPr>
        <p:spPr>
          <a:xfrm>
            <a:off x="7198658" y="4554070"/>
            <a:ext cx="4007224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橢圓 10">
            <a:extLst>
              <a:ext uri="{FF2B5EF4-FFF2-40B4-BE49-F238E27FC236}">
                <a16:creationId xmlns:a16="http://schemas.microsoft.com/office/drawing/2014/main" id="{7C8F22A2-33C1-86EF-A87B-C38389BA47A8}"/>
              </a:ext>
            </a:extLst>
          </p:cNvPr>
          <p:cNvSpPr/>
          <p:nvPr/>
        </p:nvSpPr>
        <p:spPr>
          <a:xfrm>
            <a:off x="6929718" y="1305936"/>
            <a:ext cx="170329" cy="175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FB738B98-A646-FA88-6BCC-3D78D5271F08}"/>
              </a:ext>
            </a:extLst>
          </p:cNvPr>
          <p:cNvSpPr/>
          <p:nvPr/>
        </p:nvSpPr>
        <p:spPr>
          <a:xfrm>
            <a:off x="10963835" y="1305936"/>
            <a:ext cx="170329" cy="175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7034946-FCF1-AF98-79B3-488CF075EAA9}"/>
              </a:ext>
            </a:extLst>
          </p:cNvPr>
          <p:cNvSpPr/>
          <p:nvPr/>
        </p:nvSpPr>
        <p:spPr>
          <a:xfrm>
            <a:off x="7005916" y="4440376"/>
            <a:ext cx="170329" cy="175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1437441-0A0F-1AA0-AE1C-213232F91F4A}"/>
              </a:ext>
            </a:extLst>
          </p:cNvPr>
          <p:cNvSpPr/>
          <p:nvPr/>
        </p:nvSpPr>
        <p:spPr>
          <a:xfrm>
            <a:off x="11013142" y="4466441"/>
            <a:ext cx="170329" cy="175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A2DA2440-2289-65F2-E529-D2A096210754}"/>
              </a:ext>
            </a:extLst>
          </p:cNvPr>
          <p:cNvCxnSpPr/>
          <p:nvPr/>
        </p:nvCxnSpPr>
        <p:spPr>
          <a:xfrm>
            <a:off x="6490447" y="242047"/>
            <a:ext cx="0" cy="578223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6501037-73D5-EE18-D504-C3755D063503}"/>
              </a:ext>
            </a:extLst>
          </p:cNvPr>
          <p:cNvCxnSpPr>
            <a:cxnSpLocks/>
          </p:cNvCxnSpPr>
          <p:nvPr/>
        </p:nvCxnSpPr>
        <p:spPr>
          <a:xfrm>
            <a:off x="5836023" y="5082988"/>
            <a:ext cx="593463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666980E-75F0-B656-B41E-8696AEA7905F}"/>
              </a:ext>
            </a:extLst>
          </p:cNvPr>
          <p:cNvSpPr txBox="1"/>
          <p:nvPr/>
        </p:nvSpPr>
        <p:spPr>
          <a:xfrm>
            <a:off x="6896102" y="5091970"/>
            <a:ext cx="407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X1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61AA449-FAF7-5411-21CB-99A70E7AC57C}"/>
              </a:ext>
            </a:extLst>
          </p:cNvPr>
          <p:cNvSpPr txBox="1"/>
          <p:nvPr/>
        </p:nvSpPr>
        <p:spPr>
          <a:xfrm>
            <a:off x="10894361" y="5133799"/>
            <a:ext cx="407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X2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754A233-CD2E-7346-65EB-31BAF89301A9}"/>
              </a:ext>
            </a:extLst>
          </p:cNvPr>
          <p:cNvSpPr txBox="1"/>
          <p:nvPr/>
        </p:nvSpPr>
        <p:spPr>
          <a:xfrm>
            <a:off x="5993520" y="4387645"/>
            <a:ext cx="407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Y2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5CD6B14-9D96-2A06-365A-D627AEAF8447}"/>
              </a:ext>
            </a:extLst>
          </p:cNvPr>
          <p:cNvSpPr txBox="1"/>
          <p:nvPr/>
        </p:nvSpPr>
        <p:spPr>
          <a:xfrm>
            <a:off x="5959291" y="1254428"/>
            <a:ext cx="407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Y1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A92EBBC-7024-1685-35D2-231C744B79BB}"/>
              </a:ext>
            </a:extLst>
          </p:cNvPr>
          <p:cNvSpPr txBox="1"/>
          <p:nvPr/>
        </p:nvSpPr>
        <p:spPr>
          <a:xfrm>
            <a:off x="7706079" y="1162731"/>
            <a:ext cx="6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R1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78532C4-D2EF-0A87-3C7F-099A8661926B}"/>
              </a:ext>
            </a:extLst>
          </p:cNvPr>
          <p:cNvSpPr txBox="1"/>
          <p:nvPr/>
        </p:nvSpPr>
        <p:spPr>
          <a:xfrm>
            <a:off x="7730733" y="4275835"/>
            <a:ext cx="6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R2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CA57A7AA-B0A1-1D23-08F1-B475D92B971D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>
            <a:off x="8046433" y="1624396"/>
            <a:ext cx="24654" cy="2651439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橢圓 29">
            <a:extLst>
              <a:ext uri="{FF2B5EF4-FFF2-40B4-BE49-F238E27FC236}">
                <a16:creationId xmlns:a16="http://schemas.microsoft.com/office/drawing/2014/main" id="{518C1876-CD80-EAAD-AE6A-6616B6C9F703}"/>
              </a:ext>
            </a:extLst>
          </p:cNvPr>
          <p:cNvSpPr/>
          <p:nvPr/>
        </p:nvSpPr>
        <p:spPr>
          <a:xfrm>
            <a:off x="7961268" y="2876420"/>
            <a:ext cx="170329" cy="17525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B655687-5D36-92F3-9CA0-44C330CC024E}"/>
              </a:ext>
            </a:extLst>
          </p:cNvPr>
          <p:cNvSpPr txBox="1"/>
          <p:nvPr/>
        </p:nvSpPr>
        <p:spPr>
          <a:xfrm>
            <a:off x="8153400" y="2721681"/>
            <a:ext cx="6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accent6"/>
                </a:solidFill>
              </a:rPr>
              <a:t>P</a:t>
            </a:r>
            <a:endParaRPr lang="zh-TW" altLang="en-US" sz="2400" dirty="0">
              <a:solidFill>
                <a:schemeClr val="accent6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56CBA9A-2540-FFBA-0C42-7847E2C84BCE}"/>
              </a:ext>
            </a:extLst>
          </p:cNvPr>
          <p:cNvSpPr txBox="1"/>
          <p:nvPr/>
        </p:nvSpPr>
        <p:spPr>
          <a:xfrm>
            <a:off x="6722355" y="935986"/>
            <a:ext cx="6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accent1"/>
                </a:solidFill>
              </a:rPr>
              <a:t>I11</a:t>
            </a:r>
            <a:endParaRPr lang="zh-TW" altLang="en-US" sz="2400" dirty="0">
              <a:solidFill>
                <a:schemeClr val="accent1"/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E219306-0965-3C8E-7814-1164DED9D251}"/>
              </a:ext>
            </a:extLst>
          </p:cNvPr>
          <p:cNvSpPr txBox="1"/>
          <p:nvPr/>
        </p:nvSpPr>
        <p:spPr>
          <a:xfrm>
            <a:off x="10789046" y="929354"/>
            <a:ext cx="6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accent1"/>
                </a:solidFill>
              </a:rPr>
              <a:t>I21</a:t>
            </a:r>
            <a:endParaRPr lang="zh-TW" altLang="en-US" sz="2400" dirty="0">
              <a:solidFill>
                <a:schemeClr val="accent1"/>
              </a:solidFill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990E7DF-A3A4-0F37-4B7B-1641184852BE}"/>
              </a:ext>
            </a:extLst>
          </p:cNvPr>
          <p:cNvSpPr txBox="1"/>
          <p:nvPr/>
        </p:nvSpPr>
        <p:spPr>
          <a:xfrm>
            <a:off x="6737299" y="4052160"/>
            <a:ext cx="6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accent1"/>
                </a:solidFill>
              </a:rPr>
              <a:t>I12</a:t>
            </a:r>
            <a:endParaRPr lang="zh-TW" altLang="en-US" sz="2400" dirty="0">
              <a:solidFill>
                <a:schemeClr val="accent1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D05E266D-7CA5-8657-1F6A-70B0C5AE8975}"/>
              </a:ext>
            </a:extLst>
          </p:cNvPr>
          <p:cNvSpPr txBox="1"/>
          <p:nvPr/>
        </p:nvSpPr>
        <p:spPr>
          <a:xfrm>
            <a:off x="10789046" y="4082214"/>
            <a:ext cx="6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accent1"/>
                </a:solidFill>
              </a:rPr>
              <a:t>I22</a:t>
            </a:r>
            <a:endParaRPr lang="zh-TW" altLang="en-US" sz="2400" dirty="0">
              <a:solidFill>
                <a:schemeClr val="accent1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F70EADD-7E7F-51F0-F377-F11FF64CFCA0}"/>
              </a:ext>
            </a:extLst>
          </p:cNvPr>
          <p:cNvSpPr txBox="1"/>
          <p:nvPr/>
        </p:nvSpPr>
        <p:spPr>
          <a:xfrm>
            <a:off x="662855" y="1846729"/>
            <a:ext cx="2331356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highlight>
                  <a:srgbClr val="FFFF00"/>
                </a:highlight>
              </a:rPr>
              <a:t>Step 1. </a:t>
            </a:r>
            <a:r>
              <a:rPr lang="zh-TW" altLang="en-US" dirty="0">
                <a:highlight>
                  <a:srgbClr val="FFFF00"/>
                </a:highlight>
              </a:rPr>
              <a:t>找到</a:t>
            </a:r>
            <a:r>
              <a:rPr lang="en-US" altLang="zh-TW" dirty="0">
                <a:highlight>
                  <a:srgbClr val="FFFF00"/>
                </a:highlight>
              </a:rPr>
              <a:t>x1, y1, x2, y2</a:t>
            </a:r>
          </a:p>
          <a:p>
            <a:pPr>
              <a:lnSpc>
                <a:spcPct val="150000"/>
              </a:lnSpc>
            </a:pPr>
            <a:r>
              <a:rPr lang="en-US" altLang="zh-TW" dirty="0"/>
              <a:t>X1 : </a:t>
            </a:r>
            <a:r>
              <a:rPr lang="zh-TW" altLang="en-US" dirty="0"/>
              <a:t>原</a:t>
            </a:r>
            <a:r>
              <a:rPr lang="en-US" altLang="zh-TW" dirty="0"/>
              <a:t>x</a:t>
            </a:r>
            <a:r>
              <a:rPr lang="zh-TW" altLang="en-US" dirty="0"/>
              <a:t>下界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dirty="0"/>
              <a:t>X2 : x1+1</a:t>
            </a:r>
          </a:p>
          <a:p>
            <a:pPr>
              <a:lnSpc>
                <a:spcPct val="150000"/>
              </a:lnSpc>
            </a:pPr>
            <a:r>
              <a:rPr lang="en-US" altLang="zh-TW" dirty="0"/>
              <a:t>Y1 : </a:t>
            </a:r>
            <a:r>
              <a:rPr lang="zh-TW" altLang="en-US" dirty="0"/>
              <a:t>原本</a:t>
            </a:r>
            <a:r>
              <a:rPr lang="en-US" altLang="zh-TW" dirty="0"/>
              <a:t>y</a:t>
            </a:r>
            <a:r>
              <a:rPr lang="zh-TW" altLang="en-US" dirty="0"/>
              <a:t>下界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dirty="0"/>
              <a:t>Y2 : y1+1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81757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E3C35B6-41E1-F2C1-BC6B-5521F66FD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628FE9C8-AD57-3F4B-AB8A-8A502527DC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1.</a:t>
            </a:r>
            <a:r>
              <a:rPr lang="zh-TW" altLang="en-US" dirty="0"/>
              <a:t>插值法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F3BB8C49-B8C5-278D-F44A-47D6D341276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CAC18B4-17D8-1E3E-560B-75F1A51BF0BE}"/>
              </a:ext>
            </a:extLst>
          </p:cNvPr>
          <p:cNvCxnSpPr>
            <a:cxnSpLocks/>
          </p:cNvCxnSpPr>
          <p:nvPr/>
        </p:nvCxnSpPr>
        <p:spPr>
          <a:xfrm>
            <a:off x="7100047" y="1416424"/>
            <a:ext cx="4007224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3481026-7183-41AD-AFE9-B96C91115010}"/>
              </a:ext>
            </a:extLst>
          </p:cNvPr>
          <p:cNvCxnSpPr>
            <a:cxnSpLocks/>
          </p:cNvCxnSpPr>
          <p:nvPr/>
        </p:nvCxnSpPr>
        <p:spPr>
          <a:xfrm>
            <a:off x="7198658" y="4554070"/>
            <a:ext cx="4007224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橢圓 10">
            <a:extLst>
              <a:ext uri="{FF2B5EF4-FFF2-40B4-BE49-F238E27FC236}">
                <a16:creationId xmlns:a16="http://schemas.microsoft.com/office/drawing/2014/main" id="{2E4EFB47-B6F8-1440-8F2A-E87543158FBF}"/>
              </a:ext>
            </a:extLst>
          </p:cNvPr>
          <p:cNvSpPr/>
          <p:nvPr/>
        </p:nvSpPr>
        <p:spPr>
          <a:xfrm>
            <a:off x="6929718" y="1305936"/>
            <a:ext cx="170329" cy="175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0538929-3CA1-62D3-A65C-CE01644ED192}"/>
              </a:ext>
            </a:extLst>
          </p:cNvPr>
          <p:cNvSpPr/>
          <p:nvPr/>
        </p:nvSpPr>
        <p:spPr>
          <a:xfrm>
            <a:off x="10963835" y="1305936"/>
            <a:ext cx="170329" cy="175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7C9CDADC-48F3-A3EB-0C67-301BE395F429}"/>
              </a:ext>
            </a:extLst>
          </p:cNvPr>
          <p:cNvSpPr/>
          <p:nvPr/>
        </p:nvSpPr>
        <p:spPr>
          <a:xfrm>
            <a:off x="7005916" y="4440376"/>
            <a:ext cx="170329" cy="175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D6647DB-B72C-A575-4278-14D0428A880F}"/>
              </a:ext>
            </a:extLst>
          </p:cNvPr>
          <p:cNvSpPr/>
          <p:nvPr/>
        </p:nvSpPr>
        <p:spPr>
          <a:xfrm>
            <a:off x="11013142" y="4466441"/>
            <a:ext cx="170329" cy="1752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B56058A-2331-54A9-31CC-97CB0755B9D4}"/>
              </a:ext>
            </a:extLst>
          </p:cNvPr>
          <p:cNvCxnSpPr/>
          <p:nvPr/>
        </p:nvCxnSpPr>
        <p:spPr>
          <a:xfrm>
            <a:off x="6490447" y="242047"/>
            <a:ext cx="0" cy="578223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D2C16F8D-09B8-C923-A61B-1F10D8844DD2}"/>
              </a:ext>
            </a:extLst>
          </p:cNvPr>
          <p:cNvCxnSpPr>
            <a:cxnSpLocks/>
          </p:cNvCxnSpPr>
          <p:nvPr/>
        </p:nvCxnSpPr>
        <p:spPr>
          <a:xfrm>
            <a:off x="5836023" y="5082988"/>
            <a:ext cx="593463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B7C4EC4-BD05-0E65-9BB9-4B9E26C25127}"/>
              </a:ext>
            </a:extLst>
          </p:cNvPr>
          <p:cNvSpPr txBox="1"/>
          <p:nvPr/>
        </p:nvSpPr>
        <p:spPr>
          <a:xfrm>
            <a:off x="6896102" y="5091970"/>
            <a:ext cx="407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X1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D9F49E7-7CD5-B5B6-AE91-F11BB5790E3C}"/>
              </a:ext>
            </a:extLst>
          </p:cNvPr>
          <p:cNvSpPr txBox="1"/>
          <p:nvPr/>
        </p:nvSpPr>
        <p:spPr>
          <a:xfrm>
            <a:off x="10894361" y="5133799"/>
            <a:ext cx="407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X2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190B54D-D888-E094-47B7-57AD02939FDA}"/>
              </a:ext>
            </a:extLst>
          </p:cNvPr>
          <p:cNvSpPr txBox="1"/>
          <p:nvPr/>
        </p:nvSpPr>
        <p:spPr>
          <a:xfrm>
            <a:off x="5993520" y="4387645"/>
            <a:ext cx="407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Y2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691451E-7A33-1E8E-3401-01DEB4EE1FF7}"/>
              </a:ext>
            </a:extLst>
          </p:cNvPr>
          <p:cNvSpPr txBox="1"/>
          <p:nvPr/>
        </p:nvSpPr>
        <p:spPr>
          <a:xfrm>
            <a:off x="5959291" y="1254428"/>
            <a:ext cx="407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Y1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6EA7C26-2255-CCE7-F12C-128E50B50C55}"/>
              </a:ext>
            </a:extLst>
          </p:cNvPr>
          <p:cNvSpPr txBox="1"/>
          <p:nvPr/>
        </p:nvSpPr>
        <p:spPr>
          <a:xfrm>
            <a:off x="7706079" y="1162731"/>
            <a:ext cx="6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R1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BE4484D-B122-94DE-9465-0A727C3F36D1}"/>
              </a:ext>
            </a:extLst>
          </p:cNvPr>
          <p:cNvSpPr txBox="1"/>
          <p:nvPr/>
        </p:nvSpPr>
        <p:spPr>
          <a:xfrm>
            <a:off x="7730733" y="4275835"/>
            <a:ext cx="6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R2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40133572-75A0-591B-EF32-D260727856EC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>
            <a:off x="8046433" y="1624396"/>
            <a:ext cx="24654" cy="2651439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橢圓 29">
            <a:extLst>
              <a:ext uri="{FF2B5EF4-FFF2-40B4-BE49-F238E27FC236}">
                <a16:creationId xmlns:a16="http://schemas.microsoft.com/office/drawing/2014/main" id="{D82E4A77-F8D2-754D-A6A0-CCD0FAA89917}"/>
              </a:ext>
            </a:extLst>
          </p:cNvPr>
          <p:cNvSpPr/>
          <p:nvPr/>
        </p:nvSpPr>
        <p:spPr>
          <a:xfrm>
            <a:off x="7961268" y="2876420"/>
            <a:ext cx="170329" cy="17525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2CE5C09-4041-0E54-EE56-493E84E068D4}"/>
              </a:ext>
            </a:extLst>
          </p:cNvPr>
          <p:cNvSpPr txBox="1"/>
          <p:nvPr/>
        </p:nvSpPr>
        <p:spPr>
          <a:xfrm>
            <a:off x="8153400" y="2721681"/>
            <a:ext cx="6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accent6"/>
                </a:solidFill>
              </a:rPr>
              <a:t>P</a:t>
            </a:r>
            <a:endParaRPr lang="zh-TW" altLang="en-US" sz="2400" dirty="0">
              <a:solidFill>
                <a:schemeClr val="accent6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04ED1AB-D929-BEC8-231F-7E037324926B}"/>
              </a:ext>
            </a:extLst>
          </p:cNvPr>
          <p:cNvSpPr txBox="1"/>
          <p:nvPr/>
        </p:nvSpPr>
        <p:spPr>
          <a:xfrm>
            <a:off x="6722355" y="935986"/>
            <a:ext cx="6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accent1"/>
                </a:solidFill>
              </a:rPr>
              <a:t>I11</a:t>
            </a:r>
            <a:endParaRPr lang="zh-TW" altLang="en-US" sz="2400" dirty="0">
              <a:solidFill>
                <a:schemeClr val="accent1"/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3FE582A-6FD0-3A21-E804-B14C8751CB0E}"/>
              </a:ext>
            </a:extLst>
          </p:cNvPr>
          <p:cNvSpPr txBox="1"/>
          <p:nvPr/>
        </p:nvSpPr>
        <p:spPr>
          <a:xfrm>
            <a:off x="10789046" y="929354"/>
            <a:ext cx="6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accent1"/>
                </a:solidFill>
              </a:rPr>
              <a:t>I21</a:t>
            </a:r>
            <a:endParaRPr lang="zh-TW" altLang="en-US" sz="2400" dirty="0">
              <a:solidFill>
                <a:schemeClr val="accent1"/>
              </a:solidFill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5CFB5E31-2080-43F6-1DAC-E6FEFB3CF08D}"/>
              </a:ext>
            </a:extLst>
          </p:cNvPr>
          <p:cNvSpPr txBox="1"/>
          <p:nvPr/>
        </p:nvSpPr>
        <p:spPr>
          <a:xfrm>
            <a:off x="6737299" y="4052160"/>
            <a:ext cx="6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accent1"/>
                </a:solidFill>
              </a:rPr>
              <a:t>I12</a:t>
            </a:r>
            <a:endParaRPr lang="zh-TW" altLang="en-US" sz="2400" dirty="0">
              <a:solidFill>
                <a:schemeClr val="accent1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17FAD52-B831-960B-229B-91DC1B7BF320}"/>
              </a:ext>
            </a:extLst>
          </p:cNvPr>
          <p:cNvSpPr txBox="1"/>
          <p:nvPr/>
        </p:nvSpPr>
        <p:spPr>
          <a:xfrm>
            <a:off x="10789046" y="4082214"/>
            <a:ext cx="6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chemeClr val="accent1"/>
                </a:solidFill>
              </a:rPr>
              <a:t>I22</a:t>
            </a:r>
            <a:endParaRPr lang="zh-TW" altLang="en-US" sz="2400" dirty="0">
              <a:solidFill>
                <a:schemeClr val="accent1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EB652B5-C3B4-25AC-43E8-0650443AF69E}"/>
              </a:ext>
            </a:extLst>
          </p:cNvPr>
          <p:cNvSpPr txBox="1"/>
          <p:nvPr/>
        </p:nvSpPr>
        <p:spPr>
          <a:xfrm>
            <a:off x="662854" y="1846729"/>
            <a:ext cx="527015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highlight>
                  <a:srgbClr val="FFFF00"/>
                </a:highlight>
              </a:rPr>
              <a:t>Step2. </a:t>
            </a:r>
            <a:r>
              <a:rPr lang="zh-TW" altLang="en-US" dirty="0">
                <a:highlight>
                  <a:srgbClr val="FFFF00"/>
                </a:highlight>
              </a:rPr>
              <a:t>做三次插值</a:t>
            </a:r>
            <a:endParaRPr lang="en-US" altLang="zh-TW" dirty="0">
              <a:highlight>
                <a:srgbClr val="FFFF00"/>
              </a:highlight>
            </a:endParaRPr>
          </a:p>
          <a:p>
            <a:r>
              <a:rPr lang="en-US" altLang="zh-TW" dirty="0"/>
              <a:t>I11 -&gt; I21 (</a:t>
            </a:r>
            <a:r>
              <a:rPr lang="zh-TW" altLang="en-US" dirty="0"/>
              <a:t>得</a:t>
            </a:r>
            <a:r>
              <a:rPr lang="en-US" altLang="zh-TW" dirty="0"/>
              <a:t>R1)</a:t>
            </a:r>
          </a:p>
          <a:p>
            <a:r>
              <a:rPr lang="en-US" altLang="zh-TW" dirty="0"/>
              <a:t>I12 -&gt; I22 (</a:t>
            </a:r>
            <a:r>
              <a:rPr lang="zh-TW" altLang="en-US" dirty="0"/>
              <a:t>得</a:t>
            </a:r>
            <a:r>
              <a:rPr lang="en-US" altLang="zh-TW" dirty="0"/>
              <a:t>R2)</a:t>
            </a:r>
          </a:p>
          <a:p>
            <a:r>
              <a:rPr lang="en-US" altLang="zh-TW" dirty="0"/>
              <a:t>R1 -&gt; R2 (</a:t>
            </a:r>
            <a:r>
              <a:rPr lang="zh-TW" altLang="en-US" dirty="0"/>
              <a:t>得</a:t>
            </a:r>
            <a:r>
              <a:rPr lang="en-US" altLang="zh-TW" dirty="0"/>
              <a:t>P)</a:t>
            </a:r>
          </a:p>
          <a:p>
            <a:endParaRPr lang="en-US" altLang="zh-TW" dirty="0"/>
          </a:p>
          <a:p>
            <a:r>
              <a:rPr lang="en-US" altLang="zh-TW" dirty="0"/>
              <a:t>w = (</a:t>
            </a:r>
            <a:r>
              <a:rPr lang="zh-TW" altLang="en-US" dirty="0"/>
              <a:t>目標位置 </a:t>
            </a:r>
            <a:r>
              <a:rPr lang="en-US" altLang="zh-TW" dirty="0"/>
              <a:t>- </a:t>
            </a:r>
            <a:r>
              <a:rPr lang="zh-TW" altLang="en-US" dirty="0"/>
              <a:t>左端點</a:t>
            </a:r>
            <a:r>
              <a:rPr lang="en-US" altLang="zh-TW" dirty="0"/>
              <a:t>) / (</a:t>
            </a:r>
            <a:r>
              <a:rPr lang="zh-TW" altLang="en-US" dirty="0"/>
              <a:t>右端點 </a:t>
            </a:r>
            <a:r>
              <a:rPr lang="en-US" altLang="zh-TW" dirty="0"/>
              <a:t>- </a:t>
            </a:r>
            <a:r>
              <a:rPr lang="zh-TW" altLang="en-US" dirty="0"/>
              <a:t>左端點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dirty="0">
                <a:highlight>
                  <a:srgbClr val="FF0000"/>
                </a:highlight>
              </a:rPr>
              <a:t>R1</a:t>
            </a:r>
            <a:r>
              <a:rPr lang="zh-TW" altLang="en-US" dirty="0">
                <a:highlight>
                  <a:srgbClr val="FF0000"/>
                </a:highlight>
              </a:rPr>
              <a:t> </a:t>
            </a:r>
            <a:r>
              <a:rPr lang="en-US" altLang="zh-TW" dirty="0">
                <a:highlight>
                  <a:srgbClr val="FF0000"/>
                </a:highlight>
              </a:rPr>
              <a:t>=</a:t>
            </a:r>
            <a:r>
              <a:rPr lang="zh-TW" altLang="en-US" dirty="0">
                <a:highlight>
                  <a:srgbClr val="FF0000"/>
                </a:highlight>
              </a:rPr>
              <a:t> </a:t>
            </a:r>
            <a:r>
              <a:rPr lang="en-US" altLang="zh-TW" dirty="0">
                <a:highlight>
                  <a:srgbClr val="FF0000"/>
                </a:highlight>
              </a:rPr>
              <a:t>I11(1-wx) + I21wx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highlight>
                  <a:srgbClr val="FF0000"/>
                </a:highlight>
              </a:rPr>
              <a:t>R2 = I12(1-wx) + I22wx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highlight>
                  <a:srgbClr val="00FF00"/>
                </a:highlight>
              </a:rPr>
              <a:t>P = R1(1-wy) + R2wy</a:t>
            </a:r>
          </a:p>
          <a:p>
            <a:endParaRPr lang="en-US" altLang="zh-TW" dirty="0"/>
          </a:p>
          <a:p>
            <a:r>
              <a:rPr lang="zh-TW" altLang="en-US" dirty="0"/>
              <a:t>簡化後公式：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pl-PL" altLang="zh-TW" dirty="0"/>
              <a:t>(I11 * (1 - wx) * (1 - wy) + I21 * wx * (1 - wy) + I12 * (1 - wx) * wy + I22 * wx * wy)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B733A2B5-6AE6-D308-5A0C-75D9F7637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173" y="105476"/>
            <a:ext cx="6811326" cy="6763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24598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E249694C-EB00-F97C-3110-4759108D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248D64D7-5CB9-1E92-552D-D7DA2A422FF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54370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zh-TW" altLang="en-US" dirty="0"/>
              <a:t>影像基礎 </a:t>
            </a:r>
            <a:r>
              <a:rPr lang="en-US" altLang="zh-TW" dirty="0"/>
              <a:t>–</a:t>
            </a:r>
            <a:r>
              <a:rPr lang="zh-TW" altLang="en-US" dirty="0"/>
              <a:t> 取樣</a:t>
            </a:r>
            <a:r>
              <a:rPr lang="en-US" altLang="zh-TW" dirty="0"/>
              <a:t>&amp;</a:t>
            </a:r>
            <a:r>
              <a:rPr lang="zh-TW" altLang="en-US" dirty="0"/>
              <a:t>量化</a:t>
            </a:r>
            <a:endParaRPr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45E3C508-C01F-FD27-5852-96F2C18B4EE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12969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2.</a:t>
            </a:r>
            <a:r>
              <a:rPr lang="zh-TW" altLang="en-US" dirty="0"/>
              <a:t>影像取樣與量化</a:t>
            </a:r>
            <a:endParaRPr dirty="0"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zh-TW" altLang="en-US" sz="2000" dirty="0"/>
              <a:t>取樣 </a:t>
            </a:r>
            <a:r>
              <a:rPr lang="en-US" altLang="zh-TW" sz="2000" dirty="0"/>
              <a:t>(Sampling)</a:t>
            </a:r>
            <a:r>
              <a:rPr lang="zh-TW" altLang="en-US" sz="2000" dirty="0"/>
              <a:t> </a:t>
            </a:r>
            <a:r>
              <a:rPr lang="en-US" altLang="zh-TW" sz="2000" dirty="0"/>
              <a:t>:</a:t>
            </a:r>
            <a:r>
              <a:rPr lang="zh-TW" altLang="en-US" sz="2000" dirty="0"/>
              <a:t>將連續的實際影像（</a:t>
            </a:r>
            <a:r>
              <a:rPr lang="en-US" altLang="zh-TW" sz="2000" dirty="0"/>
              <a:t>analog/continuous image</a:t>
            </a:r>
            <a:r>
              <a:rPr lang="zh-TW" altLang="en-US" sz="2000" dirty="0"/>
              <a:t>）在空間座標上離散化。</a:t>
            </a:r>
            <a:endParaRPr lang="en-US" altLang="zh-TW" sz="2000" dirty="0"/>
          </a:p>
        </p:txBody>
      </p:sp>
      <p:sp>
        <p:nvSpPr>
          <p:cNvPr id="109" name="Google Shape;10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5761DDE-2D2F-E3E2-3B62-7944C86F7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94" y="2679336"/>
            <a:ext cx="3599331" cy="36770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BC5EDD9-6D51-AF7E-2984-9B1200A0A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685" y="2938011"/>
            <a:ext cx="6335009" cy="3238952"/>
          </a:xfrm>
          <a:prstGeom prst="rect">
            <a:avLst/>
          </a:prstGeom>
        </p:spPr>
      </p:pic>
      <p:grpSp>
        <p:nvGrpSpPr>
          <p:cNvPr id="10" name="群組 9">
            <a:extLst>
              <a:ext uri="{FF2B5EF4-FFF2-40B4-BE49-F238E27FC236}">
                <a16:creationId xmlns:a16="http://schemas.microsoft.com/office/drawing/2014/main" id="{F268D018-D6DC-FB3B-51DA-AD48BF94A22A}"/>
              </a:ext>
            </a:extLst>
          </p:cNvPr>
          <p:cNvGrpSpPr/>
          <p:nvPr/>
        </p:nvGrpSpPr>
        <p:grpSpPr>
          <a:xfrm>
            <a:off x="5504328" y="3263152"/>
            <a:ext cx="412378" cy="338464"/>
            <a:chOff x="5504328" y="3263152"/>
            <a:chExt cx="412378" cy="33846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CE995B8-9E60-09F8-1F2F-6A371D235E7D}"/>
                </a:ext>
              </a:extLst>
            </p:cNvPr>
            <p:cNvSpPr/>
            <p:nvPr/>
          </p:nvSpPr>
          <p:spPr>
            <a:xfrm>
              <a:off x="5504328" y="3263152"/>
              <a:ext cx="206189" cy="165847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93DD8D3-827E-E8BF-8C5D-D8C5AD4C87CE}"/>
                </a:ext>
              </a:extLst>
            </p:cNvPr>
            <p:cNvSpPr/>
            <p:nvPr/>
          </p:nvSpPr>
          <p:spPr>
            <a:xfrm>
              <a:off x="5710517" y="3263152"/>
              <a:ext cx="206189" cy="165847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9D39E38-438E-9A3B-F556-BB66DC2599F7}"/>
                </a:ext>
              </a:extLst>
            </p:cNvPr>
            <p:cNvSpPr/>
            <p:nvPr/>
          </p:nvSpPr>
          <p:spPr>
            <a:xfrm>
              <a:off x="5504328" y="3435769"/>
              <a:ext cx="206189" cy="165847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DFB9FCF-3B99-3096-22CA-1C68DF95AAE7}"/>
                </a:ext>
              </a:extLst>
            </p:cNvPr>
            <p:cNvSpPr/>
            <p:nvPr/>
          </p:nvSpPr>
          <p:spPr>
            <a:xfrm>
              <a:off x="5710517" y="3434231"/>
              <a:ext cx="206189" cy="165847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88C17872-2195-D815-FD9F-99EC5907F831}"/>
              </a:ext>
            </a:extLst>
          </p:cNvPr>
          <p:cNvSpPr/>
          <p:nvPr/>
        </p:nvSpPr>
        <p:spPr>
          <a:xfrm>
            <a:off x="8633010" y="3269922"/>
            <a:ext cx="410466" cy="33015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C91F791-6DDC-9921-AB4E-41EE34D01099}"/>
              </a:ext>
            </a:extLst>
          </p:cNvPr>
          <p:cNvGrpSpPr/>
          <p:nvPr/>
        </p:nvGrpSpPr>
        <p:grpSpPr>
          <a:xfrm>
            <a:off x="5925670" y="3269922"/>
            <a:ext cx="412378" cy="338464"/>
            <a:chOff x="5504328" y="3263152"/>
            <a:chExt cx="412378" cy="338464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4BAB255-D193-B960-43D9-D338217FBB0D}"/>
                </a:ext>
              </a:extLst>
            </p:cNvPr>
            <p:cNvSpPr/>
            <p:nvPr/>
          </p:nvSpPr>
          <p:spPr>
            <a:xfrm>
              <a:off x="5504328" y="3263152"/>
              <a:ext cx="206189" cy="165847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E974348-681F-932A-259C-CCE2D6F487E6}"/>
                </a:ext>
              </a:extLst>
            </p:cNvPr>
            <p:cNvSpPr/>
            <p:nvPr/>
          </p:nvSpPr>
          <p:spPr>
            <a:xfrm>
              <a:off x="5710517" y="3263152"/>
              <a:ext cx="206189" cy="165847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E926F9C-D014-2D74-6707-A79E28B3E842}"/>
                </a:ext>
              </a:extLst>
            </p:cNvPr>
            <p:cNvSpPr/>
            <p:nvPr/>
          </p:nvSpPr>
          <p:spPr>
            <a:xfrm>
              <a:off x="5504328" y="3435769"/>
              <a:ext cx="206189" cy="165847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72D6F54-3F92-76CF-B52B-B5E031AC8EB6}"/>
                </a:ext>
              </a:extLst>
            </p:cNvPr>
            <p:cNvSpPr/>
            <p:nvPr/>
          </p:nvSpPr>
          <p:spPr>
            <a:xfrm>
              <a:off x="5710517" y="3434231"/>
              <a:ext cx="206189" cy="165847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1EAD285A-BC7B-901E-43A2-CAF4DE607461}"/>
              </a:ext>
            </a:extLst>
          </p:cNvPr>
          <p:cNvSpPr/>
          <p:nvPr/>
        </p:nvSpPr>
        <p:spPr>
          <a:xfrm>
            <a:off x="9054352" y="3269922"/>
            <a:ext cx="410466" cy="33015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弧形下彎 16">
            <a:extLst>
              <a:ext uri="{FF2B5EF4-FFF2-40B4-BE49-F238E27FC236}">
                <a16:creationId xmlns:a16="http://schemas.microsoft.com/office/drawing/2014/main" id="{36547761-E472-815C-D8D3-6DC891C1913E}"/>
              </a:ext>
            </a:extLst>
          </p:cNvPr>
          <p:cNvSpPr/>
          <p:nvPr/>
        </p:nvSpPr>
        <p:spPr>
          <a:xfrm>
            <a:off x="5710516" y="2366682"/>
            <a:ext cx="3332959" cy="75192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EF0A532-C42E-4047-6786-E8F71C8A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EFCA8D3-9A47-7A14-03CC-4EAB9280C3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2.</a:t>
            </a:r>
            <a:r>
              <a:rPr lang="zh-TW" altLang="en-US" dirty="0"/>
              <a:t>影像取樣與量化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6B952E0D-962E-9ED6-B7C8-6FE742D110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zh-TW" altLang="en-US" sz="2000" dirty="0"/>
              <a:t>取樣 </a:t>
            </a:r>
            <a:r>
              <a:rPr lang="en-US" altLang="zh-TW" sz="2000" dirty="0"/>
              <a:t>(Sampling)</a:t>
            </a:r>
            <a:r>
              <a:rPr lang="zh-TW" altLang="en-US" sz="2000" dirty="0"/>
              <a:t> </a:t>
            </a:r>
            <a:r>
              <a:rPr lang="en-US" altLang="zh-TW" sz="2000" dirty="0"/>
              <a:t>:</a:t>
            </a:r>
            <a:r>
              <a:rPr lang="zh-TW" altLang="en-US" sz="2000" dirty="0"/>
              <a:t>將連續的實際影像（</a:t>
            </a:r>
            <a:r>
              <a:rPr lang="en-US" altLang="zh-TW" sz="2000" dirty="0"/>
              <a:t>analog/continuous image</a:t>
            </a:r>
            <a:r>
              <a:rPr lang="zh-TW" altLang="en-US" sz="2000" dirty="0"/>
              <a:t>）在空間座標上離散化。</a:t>
            </a:r>
            <a:endParaRPr lang="en-US" altLang="zh-TW" sz="2000"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2208192F-1F55-5D51-8A03-A30E55658CF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61EC2D3-7372-7E0F-EA2D-0E180CB03476}"/>
              </a:ext>
            </a:extLst>
          </p:cNvPr>
          <p:cNvGrpSpPr/>
          <p:nvPr/>
        </p:nvGrpSpPr>
        <p:grpSpPr>
          <a:xfrm>
            <a:off x="6876055" y="2456644"/>
            <a:ext cx="2056462" cy="3476392"/>
            <a:chOff x="5100918" y="2700571"/>
            <a:chExt cx="2350994" cy="3476392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8214602-9ABA-F0F7-47A4-33601D3D471D}"/>
                </a:ext>
              </a:extLst>
            </p:cNvPr>
            <p:cNvSpPr/>
            <p:nvPr/>
          </p:nvSpPr>
          <p:spPr>
            <a:xfrm>
              <a:off x="5623112" y="3003176"/>
              <a:ext cx="1828800" cy="3173787"/>
            </a:xfrm>
            <a:prstGeom prst="rect">
              <a:avLst/>
            </a:prstGeom>
            <a:noFill/>
            <a:ln w="952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t"/>
            <a:lstStyle/>
            <a:p>
              <a:pPr marL="342900" indent="-342900">
                <a:lnSpc>
                  <a:spcPct val="200000"/>
                </a:lnSpc>
                <a:buAutoNum type="arabicPeriod"/>
              </a:pPr>
              <a:r>
                <a:rPr lang="zh-TW" altLang="en-US" dirty="0">
                  <a:solidFill>
                    <a:schemeClr val="tx1"/>
                  </a:solidFill>
                  <a:highlight>
                    <a:srgbClr val="FFFF00"/>
                  </a:highlight>
                  <a:latin typeface="Calibri" panose="020F0502020204030204" pitchFamily="34" charset="0"/>
                  <a:cs typeface="Calibri" panose="020F0502020204030204" pitchFamily="34" charset="0"/>
                </a:rPr>
                <a:t>最鄰近法</a:t>
              </a:r>
              <a:endParaRPr lang="en-US" altLang="zh-TW" dirty="0">
                <a:solidFill>
                  <a:schemeClr val="tx1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342900" indent="-342900">
                <a:lnSpc>
                  <a:spcPct val="200000"/>
                </a:lnSpc>
                <a:buAutoNum type="arabicPeriod"/>
              </a:pPr>
              <a:r>
                <a:rPr lang="zh-TW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雙線性內插法</a:t>
              </a:r>
              <a:endParaRPr lang="en-US" altLang="zh-TW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342900" indent="-342900">
                <a:lnSpc>
                  <a:spcPct val="200000"/>
                </a:lnSpc>
                <a:buAutoNum type="arabicPeriod"/>
              </a:pPr>
              <a:r>
                <a:rPr lang="zh-TW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立方迴旋法</a:t>
              </a:r>
              <a:endParaRPr lang="en-US" altLang="zh-TW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342900" indent="-342900">
                <a:lnSpc>
                  <a:spcPct val="200000"/>
                </a:lnSpc>
                <a:buAutoNum type="arabicPeriod"/>
              </a:pPr>
              <a:r>
                <a:rPr lang="zh-TW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多數統計法</a:t>
              </a:r>
              <a:endParaRPr lang="en-US" altLang="zh-TW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916FFA4-7B47-74CB-EA68-781A39274618}"/>
                </a:ext>
              </a:extLst>
            </p:cNvPr>
            <p:cNvSpPr/>
            <p:nvPr/>
          </p:nvSpPr>
          <p:spPr>
            <a:xfrm>
              <a:off x="5100918" y="2700571"/>
              <a:ext cx="753036" cy="4258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方法</a:t>
              </a:r>
            </a:p>
          </p:txBody>
        </p:sp>
      </p:grpSp>
      <p:pic>
        <p:nvPicPr>
          <p:cNvPr id="22" name="圖片 21">
            <a:extLst>
              <a:ext uri="{FF2B5EF4-FFF2-40B4-BE49-F238E27FC236}">
                <a16:creationId xmlns:a16="http://schemas.microsoft.com/office/drawing/2014/main" id="{CD978F94-6228-C8A1-778F-90EC3A1DD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85" y="2904565"/>
            <a:ext cx="2706872" cy="2580551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E7D24B69-F3FE-8643-F277-0042D29EB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468" y="2904565"/>
            <a:ext cx="2706872" cy="2598597"/>
          </a:xfrm>
          <a:prstGeom prst="rect">
            <a:avLst/>
          </a:prstGeom>
        </p:spPr>
      </p:pic>
      <p:sp>
        <p:nvSpPr>
          <p:cNvPr id="26" name="箭號: 向右 25">
            <a:extLst>
              <a:ext uri="{FF2B5EF4-FFF2-40B4-BE49-F238E27FC236}">
                <a16:creationId xmlns:a16="http://schemas.microsoft.com/office/drawing/2014/main" id="{0C31881F-4D6E-E91B-BE8B-8E2656039313}"/>
              </a:ext>
            </a:extLst>
          </p:cNvPr>
          <p:cNvSpPr/>
          <p:nvPr/>
        </p:nvSpPr>
        <p:spPr>
          <a:xfrm>
            <a:off x="3209186" y="4087263"/>
            <a:ext cx="434365" cy="2151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7F943E5E-9D98-FADF-F848-983334D378BD}"/>
              </a:ext>
            </a:extLst>
          </p:cNvPr>
          <p:cNvSpPr/>
          <p:nvPr/>
        </p:nvSpPr>
        <p:spPr>
          <a:xfrm>
            <a:off x="6628037" y="4096286"/>
            <a:ext cx="434365" cy="2151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287D382C-A9F6-8B63-BBDF-45F171BA6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395" y="2792426"/>
            <a:ext cx="2897516" cy="2822872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E37DE7E5-0246-D44E-189F-3D5EBB157F61}"/>
              </a:ext>
            </a:extLst>
          </p:cNvPr>
          <p:cNvSpPr/>
          <p:nvPr/>
        </p:nvSpPr>
        <p:spPr>
          <a:xfrm>
            <a:off x="2788024" y="5225256"/>
            <a:ext cx="333333" cy="28570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FEF8B4B-6C0E-3C6F-2B92-1852905D0B3C}"/>
              </a:ext>
            </a:extLst>
          </p:cNvPr>
          <p:cNvSpPr/>
          <p:nvPr/>
        </p:nvSpPr>
        <p:spPr>
          <a:xfrm>
            <a:off x="6040189" y="5225256"/>
            <a:ext cx="333333" cy="28570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FD8C611-E5C6-BE44-BDE8-4FA1F5F57C14}"/>
              </a:ext>
            </a:extLst>
          </p:cNvPr>
          <p:cNvSpPr/>
          <p:nvPr/>
        </p:nvSpPr>
        <p:spPr>
          <a:xfrm>
            <a:off x="11624227" y="5360310"/>
            <a:ext cx="333333" cy="28570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5191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939C738-9A8E-C6E5-D6C2-887588364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B468D633-12D8-7BAD-F702-F54A1A8284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2.</a:t>
            </a:r>
            <a:r>
              <a:rPr lang="zh-TW" altLang="en-US" dirty="0"/>
              <a:t>影像取樣與量化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DF73C064-05F8-5FE8-978C-DC8A7AEDF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zh-TW" altLang="en-US" sz="2000" dirty="0"/>
              <a:t>量化 </a:t>
            </a:r>
            <a:r>
              <a:rPr lang="en-US" altLang="zh-TW" sz="2000" dirty="0"/>
              <a:t>(Quantization)</a:t>
            </a:r>
            <a:r>
              <a:rPr lang="zh-TW" altLang="en-US" sz="2000" dirty="0"/>
              <a:t>：將連續的亮度或顏色值，轉換成有限的離散數值。</a:t>
            </a:r>
            <a:endParaRPr sz="2000"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45FDD359-0AEA-6871-DAE5-7485EA3B9BE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D90661D-A648-20C1-FF99-495F07959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083" y="3139856"/>
            <a:ext cx="4876932" cy="2450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A43F8DD-5BEF-D6E7-F092-CA85BD61D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129" y="2918124"/>
            <a:ext cx="4607859" cy="28936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82171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71663D2-20B0-4097-EA1C-7E62E581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DB901EE8-77FF-11D4-CF5B-917954A12D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 altLang="en-US" dirty="0"/>
              <a:t>本日作業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44440993-5034-4BA1-400A-73D3D5D254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zh-TW" altLang="en-US" sz="2000" dirty="0"/>
              <a:t>找一張圖片</a:t>
            </a:r>
            <a:endParaRPr lang="en-US" altLang="zh-TW" sz="2000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zh-TW" altLang="en-US" sz="2000" dirty="0"/>
              <a:t>使用最鄰近插值、雙線性插值</a:t>
            </a:r>
            <a:r>
              <a:rPr lang="en-US" altLang="zh-TW" sz="2000" dirty="0"/>
              <a:t>function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zh-TW" altLang="en-US" sz="2000" dirty="0"/>
              <a:t>進行取樣與量化</a:t>
            </a:r>
            <a:endParaRPr lang="en-US" altLang="zh-TW" sz="2000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zh-TW" altLang="en-US" sz="2000" dirty="0"/>
              <a:t>你會需要交一個</a:t>
            </a:r>
            <a:r>
              <a:rPr lang="en-US" altLang="zh-TW" sz="2000" dirty="0">
                <a:solidFill>
                  <a:srgbClr val="FF0000"/>
                </a:solidFill>
              </a:rPr>
              <a:t>PDF</a:t>
            </a:r>
            <a:r>
              <a:rPr lang="zh-TW" altLang="en-US" sz="2000" dirty="0"/>
              <a:t>，說明上述</a:t>
            </a:r>
            <a:r>
              <a:rPr lang="en-US" altLang="zh-TW" sz="2000" dirty="0"/>
              <a:t>2.~3.</a:t>
            </a:r>
            <a:r>
              <a:rPr lang="zh-TW" altLang="en-US" sz="2000" dirty="0"/>
              <a:t>操作你看到的現象 </a:t>
            </a:r>
            <a:r>
              <a:rPr lang="en-US" altLang="zh-TW" sz="2000" dirty="0"/>
              <a:t>(</a:t>
            </a:r>
            <a:r>
              <a:rPr lang="zh-TW" altLang="en-US" sz="2000" dirty="0"/>
              <a:t>請附圖</a:t>
            </a:r>
            <a:r>
              <a:rPr lang="en-US" altLang="zh-TW" sz="2000" dirty="0"/>
              <a:t>)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endParaRPr lang="en-US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sz="2000" dirty="0"/>
              <a:t>Ps.</a:t>
            </a:r>
            <a:r>
              <a:rPr lang="zh-TW" altLang="en-US" sz="2000" dirty="0"/>
              <a:t>建議參數可以實作多組，好比較出差異</a:t>
            </a:r>
            <a:endParaRPr sz="2000"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AD0E0EE5-09B1-DB32-A165-5A17D84FDDF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25758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1452</TotalTime>
  <Words>505</Words>
  <Application>Microsoft Office PowerPoint</Application>
  <PresentationFormat>寬螢幕</PresentationFormat>
  <Paragraphs>89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佈景主題</vt:lpstr>
      <vt:lpstr>影像處理實習</vt:lpstr>
      <vt:lpstr>影像基礎 - 插值</vt:lpstr>
      <vt:lpstr>Part 1.插值法</vt:lpstr>
      <vt:lpstr>Part 1.插值法</vt:lpstr>
      <vt:lpstr>Part 1.插值法</vt:lpstr>
      <vt:lpstr>Part 1.插值法</vt:lpstr>
      <vt:lpstr>影像基礎 – 取樣&amp;量化</vt:lpstr>
      <vt:lpstr>Part 2.影像取樣與量化</vt:lpstr>
      <vt:lpstr>Part 2.影像取樣與量化</vt:lpstr>
      <vt:lpstr>Part 2.影像取樣與量化</vt:lpstr>
      <vt:lpstr>本日作業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立堯 陳</dc:creator>
  <cp:lastModifiedBy>立堯 陳</cp:lastModifiedBy>
  <cp:revision>4</cp:revision>
  <dcterms:created xsi:type="dcterms:W3CDTF">2025-09-17T03:10:46Z</dcterms:created>
  <dcterms:modified xsi:type="dcterms:W3CDTF">2025-09-24T05:59:40Z</dcterms:modified>
</cp:coreProperties>
</file>