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72" r:id="rId3"/>
    <p:sldId id="277" r:id="rId4"/>
    <p:sldId id="270" r:id="rId5"/>
    <p:sldId id="271" r:id="rId6"/>
    <p:sldId id="281" r:id="rId7"/>
    <p:sldId id="274" r:id="rId8"/>
    <p:sldId id="283" r:id="rId9"/>
    <p:sldId id="275" r:id="rId10"/>
    <p:sldId id="276" r:id="rId1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j3jAldOCOlQ2K/yXtDqaxcGlxnZ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A7528F06-2C3B-1A20-1457-AF36E7AA2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>
            <a:extLst>
              <a:ext uri="{FF2B5EF4-FFF2-40B4-BE49-F238E27FC236}">
                <a16:creationId xmlns:a16="http://schemas.microsoft.com/office/drawing/2014/main" id="{3AD94A72-BFA5-7837-46C7-94BF7C1699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>
            <a:extLst>
              <a:ext uri="{FF2B5EF4-FFF2-40B4-BE49-F238E27FC236}">
                <a16:creationId xmlns:a16="http://schemas.microsoft.com/office/drawing/2014/main" id="{41425FB1-C3F6-73E8-17D6-A3FB0269F8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726275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3EE52481-3A80-5669-DB09-E2922FB00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DBA33B77-D3C0-E495-8B9C-6274C6ACD1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62DB7665-0006-2870-2203-BDCD379F4D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265693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0EE1AEBB-07B5-5590-0CF5-08E39E164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749669E9-34BB-E9E7-20F2-D57CAD079C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6B234248-9EB6-EB60-30EC-1E03DDFF80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795221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6450E8FC-3DB6-F61B-C04B-C9AF0CA39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7E6252C0-CC10-5417-C0B1-B4B29B0E26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8F0AA44E-09B6-C6B7-1BC3-1C4923043F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321851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B2AA29AB-EBD3-C4B4-E6D2-E72C6346B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>
            <a:extLst>
              <a:ext uri="{FF2B5EF4-FFF2-40B4-BE49-F238E27FC236}">
                <a16:creationId xmlns:a16="http://schemas.microsoft.com/office/drawing/2014/main" id="{08EDCB93-C676-8F75-6769-B3330BF452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>
            <a:extLst>
              <a:ext uri="{FF2B5EF4-FFF2-40B4-BE49-F238E27FC236}">
                <a16:creationId xmlns:a16="http://schemas.microsoft.com/office/drawing/2014/main" id="{B61ECC02-B46D-A086-B54B-FFBAE3C266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368408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35D89B12-369E-642C-C48C-1D7C5361C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8335277B-0364-37AA-8D1A-4298974768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B1F547F6-F803-4CF0-8448-7350BA7521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40603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BB2E93FE-54C6-62AF-96AD-D6A8A3521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5BECD383-5EBB-4EC4-64FE-0D34B1599F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6008EB9F-0896-1B02-61B6-CD2C9F5E0B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088495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C028A9F9-7EFC-3402-39FA-01E52EC79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90D5AC28-32C0-2372-9CCA-03E4137C91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B62DC416-4227-1430-D481-D387A6B311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860601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65536360-5B26-1349-78B4-597F6B007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1F0082CD-9586-B6E6-5E50-98A44F28E3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0E789289-55F9-A0F4-20DF-23DC6C7135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878341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投影片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內容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章節標題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3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兩個內容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較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5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5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5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5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5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只有標題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輔助字幕的內容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8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輔助字幕的圖片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9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9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直排文字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0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直排標題及文字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1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1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影像處理實習</a:t>
            </a:r>
            <a:endParaRPr/>
          </a:p>
        </p:txBody>
      </p:sp>
      <p:sp>
        <p:nvSpPr>
          <p:cNvPr id="89" name="Google Shape;89;p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dirty="0"/>
              <a:t>Week </a:t>
            </a:r>
            <a:r>
              <a:rPr lang="en-US" altLang="zh-TW" sz="2000" dirty="0"/>
              <a:t>4</a:t>
            </a:r>
            <a:r>
              <a:rPr lang="en-US" sz="2000" dirty="0"/>
              <a:t>. </a:t>
            </a:r>
            <a:r>
              <a:rPr lang="zh-TW" altLang="en-US" sz="2000" dirty="0"/>
              <a:t>強度轉換</a:t>
            </a:r>
            <a:r>
              <a:rPr lang="en-US" altLang="zh-TW" sz="2000" dirty="0"/>
              <a:t>&amp;</a:t>
            </a:r>
            <a:r>
              <a:rPr lang="zh-TW" altLang="en-US" sz="2000" dirty="0"/>
              <a:t>直方圖</a:t>
            </a:r>
            <a:endParaRPr lang="en-US" altLang="zh-TW" sz="2000" dirty="0"/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dirty="0"/>
          </a:p>
        </p:txBody>
      </p:sp>
      <p:sp>
        <p:nvSpPr>
          <p:cNvPr id="90" name="Google Shape;90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助教 陳立堯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5BC44933-281D-D276-D431-B7A448A12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>
            <a:extLst>
              <a:ext uri="{FF2B5EF4-FFF2-40B4-BE49-F238E27FC236}">
                <a16:creationId xmlns:a16="http://schemas.microsoft.com/office/drawing/2014/main" id="{179D4533-5D83-F6A5-D36D-AE8D3E138053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0" y="1543704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zh-TW" altLang="en-US" dirty="0"/>
              <a:t>強度轉換</a:t>
            </a:r>
            <a:endParaRPr dirty="0"/>
          </a:p>
        </p:txBody>
      </p:sp>
      <p:sp>
        <p:nvSpPr>
          <p:cNvPr id="90" name="Google Shape;90;p1">
            <a:extLst>
              <a:ext uri="{FF2B5EF4-FFF2-40B4-BE49-F238E27FC236}">
                <a16:creationId xmlns:a16="http://schemas.microsoft.com/office/drawing/2014/main" id="{F96DF18B-ABD2-A4E5-2E40-3A13CA309752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助教 陳立堯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02223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0E64F907-2DA2-6963-2326-CCD689261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0C4ED75A-DF0E-977B-F245-5DF0C8A467D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altLang="zh-TW" dirty="0"/>
              <a:t>Part 1.</a:t>
            </a:r>
            <a:r>
              <a:rPr lang="zh-TW" altLang="en-US" dirty="0"/>
              <a:t>線性轉換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Google Shape;108;p3">
                <a:extLst>
                  <a:ext uri="{FF2B5EF4-FFF2-40B4-BE49-F238E27FC236}">
                    <a16:creationId xmlns:a16="http://schemas.microsoft.com/office/drawing/2014/main" id="{A1CCB1A2-1745-6355-64E6-1DB8819DA23C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838200" y="1825625"/>
                <a:ext cx="10515600" cy="43513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0" lvl="0" indent="0">
                  <a:lnSpc>
                    <a:spcPct val="150000"/>
                  </a:lnSpc>
                  <a:spcBef>
                    <a:spcPts val="0"/>
                  </a:spcBef>
                  <a:buSzPts val="280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000" i="1" dirty="0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zh-TW" sz="2000" i="1" dirty="0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altLang="zh-TW" sz="2000" i="1" dirty="0" err="1" smtClean="0">
                          <a:latin typeface="Cambria Math" panose="02040503050406030204" pitchFamily="18" charset="0"/>
                        </a:rPr>
                        <m:t>𝑎𝑟</m:t>
                      </m:r>
                      <m:r>
                        <a:rPr lang="zh-TW" altLang="en-US" sz="20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000" i="1" dirty="0" smtClean="0"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en-US" altLang="zh-TW" sz="200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altLang="zh-TW" sz="2000" u="sng" dirty="0">
                  <a:solidFill>
                    <a:schemeClr val="accent4">
                      <a:lumMod val="75000"/>
                    </a:schemeClr>
                  </a:solidFill>
                </a:endParaRPr>
              </a:p>
              <a:p>
                <a:pPr marL="0" lvl="0" indent="0">
                  <a:lnSpc>
                    <a:spcPct val="150000"/>
                  </a:lnSpc>
                  <a:spcBef>
                    <a:spcPts val="0"/>
                  </a:spcBef>
                  <a:buSzPts val="2800"/>
                  <a:buNone/>
                </a:pPr>
                <a:r>
                  <a:rPr lang="en-US" altLang="zh-TW" sz="2000" dirty="0">
                    <a:solidFill>
                      <a:schemeClr val="tx1"/>
                    </a:solidFill>
                  </a:rPr>
                  <a:t>a : </a:t>
                </a:r>
                <a:r>
                  <a:rPr lang="zh-TW" altLang="en-US" sz="2000" dirty="0">
                    <a:solidFill>
                      <a:schemeClr val="tx1"/>
                    </a:solidFill>
                  </a:rPr>
                  <a:t>對比度</a:t>
                </a:r>
                <a:endParaRPr lang="en-US" altLang="zh-TW" sz="2000" dirty="0">
                  <a:solidFill>
                    <a:schemeClr val="tx1"/>
                  </a:solidFill>
                </a:endParaRPr>
              </a:p>
              <a:p>
                <a:pPr marL="0" lvl="0" indent="0">
                  <a:lnSpc>
                    <a:spcPct val="150000"/>
                  </a:lnSpc>
                  <a:spcBef>
                    <a:spcPts val="0"/>
                  </a:spcBef>
                  <a:buSzPts val="2800"/>
                  <a:buNone/>
                </a:pPr>
                <a:r>
                  <a:rPr lang="en-US" altLang="zh-TW" sz="2000" dirty="0">
                    <a:solidFill>
                      <a:schemeClr val="tx1"/>
                    </a:solidFill>
                  </a:rPr>
                  <a:t>b : </a:t>
                </a:r>
                <a:r>
                  <a:rPr lang="zh-TW" altLang="en-US" sz="2000" dirty="0">
                    <a:solidFill>
                      <a:schemeClr val="tx1"/>
                    </a:solidFill>
                  </a:rPr>
                  <a:t>亮度</a:t>
                </a:r>
                <a:endParaRPr lang="en-US" altLang="zh-TW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8" name="Google Shape;108;p3">
                <a:extLst>
                  <a:ext uri="{FF2B5EF4-FFF2-40B4-BE49-F238E27FC236}">
                    <a16:creationId xmlns:a16="http://schemas.microsoft.com/office/drawing/2014/main" id="{A1CCB1A2-1745-6355-64E6-1DB8819DA23C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38200" y="1825625"/>
                <a:ext cx="10515600" cy="4351338"/>
              </a:xfrm>
              <a:prstGeom prst="rect">
                <a:avLst/>
              </a:prstGeom>
              <a:blipFill>
                <a:blip r:embed="rId3"/>
                <a:stretch>
                  <a:fillRect l="-63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9" name="Google Shape;109;p3">
            <a:extLst>
              <a:ext uri="{FF2B5EF4-FFF2-40B4-BE49-F238E27FC236}">
                <a16:creationId xmlns:a16="http://schemas.microsoft.com/office/drawing/2014/main" id="{FF57DB93-D079-DBDE-E2F7-48A7C0E4BD4E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助教 陳立堯</a:t>
            </a:r>
            <a:endParaRPr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5B72E63F-9282-6A9E-FDF3-51B4641C3695}"/>
              </a:ext>
            </a:extLst>
          </p:cNvPr>
          <p:cNvSpPr txBox="1"/>
          <p:nvPr/>
        </p:nvSpPr>
        <p:spPr>
          <a:xfrm>
            <a:off x="838200" y="3646493"/>
            <a:ext cx="6096000" cy="23275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zh-TW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numpy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as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np</a:t>
            </a:r>
          </a:p>
          <a:p>
            <a:pPr>
              <a:lnSpc>
                <a:spcPct val="150000"/>
              </a:lnSpc>
              <a:buNone/>
            </a:pPr>
            <a:endParaRPr lang="en-US" altLang="zh-TW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alpha = </a:t>
            </a:r>
            <a:r>
              <a:rPr lang="en-US" altLang="zh-TW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1.2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</a:t>
            </a:r>
            <a:r>
              <a:rPr lang="zh-TW" alt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對比度</a:t>
            </a:r>
            <a:endParaRPr lang="zh-TW" alt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beta = </a:t>
            </a:r>
            <a:r>
              <a:rPr lang="en-US" altLang="zh-TW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30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</a:t>
            </a:r>
            <a:r>
              <a:rPr lang="zh-TW" alt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亮度</a:t>
            </a:r>
            <a:endParaRPr lang="zh-TW" alt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linear = alpha*</a:t>
            </a:r>
            <a:r>
              <a:rPr lang="en-US" altLang="zh-TW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img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+ beta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linear = </a:t>
            </a:r>
            <a:r>
              <a:rPr lang="en-US" altLang="zh-TW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np.clip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(linear, </a:t>
            </a:r>
            <a:r>
              <a:rPr lang="en-US" altLang="zh-TW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zh-TW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255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).</a:t>
            </a:r>
            <a:r>
              <a:rPr lang="en-US" altLang="zh-TW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astype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(np.uint8)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TW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plt.imshow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(linear, </a:t>
            </a:r>
            <a:r>
              <a:rPr lang="en-US" altLang="zh-TW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cmap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zh-TW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"gray"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30626283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ED44885F-A51E-F2C5-B07C-DE5EA769B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EB358C98-A95B-B21E-9799-B14B1E11F5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altLang="zh-TW" dirty="0"/>
              <a:t>Part 1.</a:t>
            </a:r>
            <a:r>
              <a:rPr lang="zh-TW" altLang="en-US" dirty="0"/>
              <a:t>對數轉換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Google Shape;108;p3">
                <a:extLst>
                  <a:ext uri="{FF2B5EF4-FFF2-40B4-BE49-F238E27FC236}">
                    <a16:creationId xmlns:a16="http://schemas.microsoft.com/office/drawing/2014/main" id="{E4E35558-A456-487C-B05E-432C544F41D7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838200" y="1825625"/>
                <a:ext cx="10515600" cy="43513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0" lvl="0" indent="0">
                  <a:lnSpc>
                    <a:spcPct val="150000"/>
                  </a:lnSpc>
                  <a:spcBef>
                    <a:spcPts val="0"/>
                  </a:spcBef>
                  <a:buSzPts val="280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m:rPr>
                          <m:sty m:val="p"/>
                        </m:rP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 </m:t>
                      </m:r>
                      <m:func>
                        <m:func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2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(1 +</m:t>
                          </m:r>
                          <m:r>
                            <m:rPr>
                              <m:sty m:val="p"/>
                            </m:rPr>
                            <a:rPr lang="en-US" altLang="zh-TW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r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altLang="zh-TW" sz="2000" dirty="0"/>
              </a:p>
              <a:p>
                <a:pPr marL="0" lvl="0" indent="0">
                  <a:lnSpc>
                    <a:spcPct val="150000"/>
                  </a:lnSpc>
                  <a:spcBef>
                    <a:spcPts val="0"/>
                  </a:spcBef>
                  <a:buSzPts val="2800"/>
                  <a:buNone/>
                </a:pPr>
                <a:r>
                  <a:rPr lang="en-US" altLang="zh-TW" sz="2000" dirty="0"/>
                  <a:t>c : </a:t>
                </a:r>
                <a:r>
                  <a:rPr lang="zh-TW" altLang="en-US" sz="2000" dirty="0"/>
                  <a:t>規範化常數</a:t>
                </a:r>
                <a:endParaRPr lang="en-US" altLang="zh-TW" sz="2000" dirty="0"/>
              </a:p>
              <a:p>
                <a:pPr marL="0" lvl="0" indent="0">
                  <a:lnSpc>
                    <a:spcPct val="150000"/>
                  </a:lnSpc>
                  <a:spcBef>
                    <a:spcPts val="0"/>
                  </a:spcBef>
                  <a:buSzPts val="2800"/>
                  <a:buNone/>
                </a:pPr>
                <a:endParaRPr lang="en-US" altLang="zh-TW" sz="2000" dirty="0"/>
              </a:p>
            </p:txBody>
          </p:sp>
        </mc:Choice>
        <mc:Fallback xmlns="">
          <p:sp>
            <p:nvSpPr>
              <p:cNvPr id="108" name="Google Shape;108;p3">
                <a:extLst>
                  <a:ext uri="{FF2B5EF4-FFF2-40B4-BE49-F238E27FC236}">
                    <a16:creationId xmlns:a16="http://schemas.microsoft.com/office/drawing/2014/main" id="{E4E35558-A456-487C-B05E-432C544F41D7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38200" y="1825625"/>
                <a:ext cx="10515600" cy="4351338"/>
              </a:xfrm>
              <a:prstGeom prst="rect">
                <a:avLst/>
              </a:prstGeom>
              <a:blipFill>
                <a:blip r:embed="rId3"/>
                <a:stretch>
                  <a:fillRect l="-63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9" name="Google Shape;109;p3">
            <a:extLst>
              <a:ext uri="{FF2B5EF4-FFF2-40B4-BE49-F238E27FC236}">
                <a16:creationId xmlns:a16="http://schemas.microsoft.com/office/drawing/2014/main" id="{6E924397-83F3-8A02-8944-262A02EC7012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助教 陳立堯</a:t>
            </a:r>
            <a:endParaRPr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D5D3ED39-135E-9FE1-B0F7-D8A5EC66DE0F}"/>
              </a:ext>
            </a:extLst>
          </p:cNvPr>
          <p:cNvSpPr txBox="1"/>
          <p:nvPr/>
        </p:nvSpPr>
        <p:spPr>
          <a:xfrm>
            <a:off x="838200" y="3094026"/>
            <a:ext cx="6096000" cy="13580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 = </a:t>
            </a:r>
            <a:r>
              <a:rPr lang="en-US" altLang="zh-TW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255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/ np.log(</a:t>
            </a:r>
            <a:r>
              <a:rPr lang="en-US" altLang="zh-TW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+ </a:t>
            </a:r>
            <a:r>
              <a:rPr lang="en-US" altLang="zh-TW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np.</a:t>
            </a:r>
            <a:r>
              <a:rPr lang="en-US" altLang="zh-TW" b="0" dirty="0" err="1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max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zh-TW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img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))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TW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log_trans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c * np.log(</a:t>
            </a:r>
            <a:r>
              <a:rPr lang="en-US" altLang="zh-TW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+ </a:t>
            </a:r>
            <a:r>
              <a:rPr lang="en-US" altLang="zh-TW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img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TW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log_trans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altLang="zh-TW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np.clip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zh-TW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log_trans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zh-TW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zh-TW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255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).</a:t>
            </a:r>
            <a:r>
              <a:rPr lang="en-US" altLang="zh-TW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astype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(np.uint8)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TW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plt.imshow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zh-TW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log_trans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zh-TW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cmap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zh-TW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"gray"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</p:txBody>
      </p:sp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B657B68E-D67F-8994-DE6B-71FDDB1CD955}"/>
              </a:ext>
            </a:extLst>
          </p:cNvPr>
          <p:cNvCxnSpPr/>
          <p:nvPr/>
        </p:nvCxnSpPr>
        <p:spPr>
          <a:xfrm flipV="1">
            <a:off x="4464424" y="2599765"/>
            <a:ext cx="3290047" cy="7171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方塊 8">
            <a:extLst>
              <a:ext uri="{FF2B5EF4-FFF2-40B4-BE49-F238E27FC236}">
                <a16:creationId xmlns:a16="http://schemas.microsoft.com/office/drawing/2014/main" id="{52C6B7EB-01EE-CA7E-48A1-4EAA4631157D}"/>
              </a:ext>
            </a:extLst>
          </p:cNvPr>
          <p:cNvSpPr txBox="1"/>
          <p:nvPr/>
        </p:nvSpPr>
        <p:spPr>
          <a:xfrm>
            <a:off x="8059271" y="1972235"/>
            <a:ext cx="3290047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Calibri" panose="020F0502020204030204" pitchFamily="34" charset="0"/>
                <a:cs typeface="Calibri" panose="020F0502020204030204" pitchFamily="34" charset="0"/>
              </a:rPr>
              <a:t>希望輸出 </a:t>
            </a:r>
            <a:r>
              <a:rPr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lang="zh-TW" altLang="en-US" dirty="0">
                <a:latin typeface="Calibri" panose="020F0502020204030204" pitchFamily="34" charset="0"/>
                <a:cs typeface="Calibri" panose="020F0502020204030204" pitchFamily="34" charset="0"/>
              </a:rPr>
              <a:t>最大值 </a:t>
            </a:r>
            <a:r>
              <a:rPr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&lt;</a:t>
            </a:r>
            <a:r>
              <a:rPr lang="zh-TW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255</a:t>
            </a:r>
          </a:p>
          <a:p>
            <a:r>
              <a:rPr lang="zh-TW" altLang="en-US" dirty="0">
                <a:latin typeface="Calibri" panose="020F0502020204030204" pitchFamily="34" charset="0"/>
                <a:cs typeface="Calibri" panose="020F0502020204030204" pitchFamily="34" charset="0"/>
              </a:rPr>
              <a:t>所以， </a:t>
            </a:r>
            <a:r>
              <a:rPr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S max = c * log(1+r)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255 = c * log(1+r)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c = 255 / log(1+r)</a:t>
            </a:r>
            <a:endParaRPr lang="zh-TW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17510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C1B81597-013D-2AEE-95BA-8739E8086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8C4775BB-0A9C-5E3C-5AE6-647079CDDA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altLang="zh-TW" dirty="0"/>
              <a:t>Part 1.Gamma</a:t>
            </a:r>
            <a:r>
              <a:rPr lang="zh-TW" altLang="en-US" dirty="0"/>
              <a:t>校正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Google Shape;108;p3">
                <a:extLst>
                  <a:ext uri="{FF2B5EF4-FFF2-40B4-BE49-F238E27FC236}">
                    <a16:creationId xmlns:a16="http://schemas.microsoft.com/office/drawing/2014/main" id="{953219C4-03C0-948D-B223-93A20BCBF5D9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838200" y="1825625"/>
                <a:ext cx="10515600" cy="43513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0" lvl="0" indent="0">
                  <a:lnSpc>
                    <a:spcPct val="150000"/>
                  </a:lnSpc>
                  <a:spcBef>
                    <a:spcPts val="0"/>
                  </a:spcBef>
                  <a:buSzPts val="280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m:rPr>
                          <m:sty m:val="p"/>
                        </m:rP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altLang="zh-TW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r</m:t>
                          </m:r>
                        </m:e>
                        <m:sup>
                          <m:r>
                            <a:rPr lang="zh-TW" alt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</m:sup>
                      </m:sSup>
                    </m:oMath>
                  </m:oMathPara>
                </a14:m>
                <a:endParaRPr lang="en-US" altLang="zh-TW" sz="2000" dirty="0"/>
              </a:p>
              <a:p>
                <a:pPr marL="0" lvl="0" indent="0">
                  <a:lnSpc>
                    <a:spcPct val="150000"/>
                  </a:lnSpc>
                  <a:spcBef>
                    <a:spcPts val="0"/>
                  </a:spcBef>
                  <a:buSzPts val="2800"/>
                  <a:buNone/>
                </a:pPr>
                <a:endParaRPr lang="en-US" altLang="zh-TW" sz="2000" dirty="0"/>
              </a:p>
              <a:p>
                <a:pPr marL="342900">
                  <a:lnSpc>
                    <a:spcPct val="150000"/>
                  </a:lnSpc>
                  <a:spcBef>
                    <a:spcPts val="0"/>
                  </a:spcBef>
                  <a:buSzPts val="2800"/>
                </a:pPr>
                <a14:m>
                  <m:oMath xmlns:m="http://schemas.openxmlformats.org/officeDocument/2006/math">
                    <m:r>
                      <a:rPr lang="zh-TW" alt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  <m:r>
                      <a:rPr lang="en-US" altLang="zh-TW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&lt; 1</m:t>
                    </m:r>
                    <m:r>
                      <a:rPr lang="zh-TW" alt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TW" altLang="en-US" sz="2000" dirty="0"/>
                  <a:t>亮化</a:t>
                </a:r>
                <a:endParaRPr lang="en-US" altLang="zh-TW" sz="2000" dirty="0"/>
              </a:p>
              <a:p>
                <a:pPr marL="342900">
                  <a:lnSpc>
                    <a:spcPct val="150000"/>
                  </a:lnSpc>
                  <a:spcBef>
                    <a:spcPts val="0"/>
                  </a:spcBef>
                  <a:buSzPts val="2800"/>
                </a:pPr>
                <a14:m>
                  <m:oMath xmlns:m="http://schemas.openxmlformats.org/officeDocument/2006/math">
                    <m:r>
                      <a:rPr lang="zh-TW" alt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=1</m:t>
                    </m:r>
                    <m:r>
                      <a:rPr lang="zh-TW" alt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TW" altLang="en-US" sz="2000" b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不變</a:t>
                </a:r>
                <a:endParaRPr lang="en-US" altLang="zh-TW" sz="2000" b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342900">
                  <a:lnSpc>
                    <a:spcPct val="150000"/>
                  </a:lnSpc>
                  <a:spcBef>
                    <a:spcPts val="0"/>
                  </a:spcBef>
                  <a:buSzPts val="2800"/>
                </a:pPr>
                <a14:m>
                  <m:oMath xmlns:m="http://schemas.openxmlformats.org/officeDocument/2006/math">
                    <m:r>
                      <a:rPr lang="zh-TW" alt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&gt; 1 </m:t>
                    </m:r>
                  </m:oMath>
                </a14:m>
                <a:r>
                  <a:rPr lang="zh-TW" altLang="en-US" sz="2000" dirty="0"/>
                  <a:t>暗化</a:t>
                </a:r>
                <a:endParaRPr lang="en-US" altLang="zh-TW" sz="2000" dirty="0"/>
              </a:p>
              <a:p>
                <a:pPr marL="342900">
                  <a:lnSpc>
                    <a:spcPct val="150000"/>
                  </a:lnSpc>
                  <a:spcBef>
                    <a:spcPts val="0"/>
                  </a:spcBef>
                  <a:buSzPts val="2800"/>
                </a:pPr>
                <a:endParaRPr lang="en-US" altLang="zh-TW" sz="2000" dirty="0"/>
              </a:p>
              <a:p>
                <a:pPr marL="0" lvl="0" indent="0">
                  <a:lnSpc>
                    <a:spcPct val="150000"/>
                  </a:lnSpc>
                  <a:spcBef>
                    <a:spcPts val="0"/>
                  </a:spcBef>
                  <a:buSzPts val="2800"/>
                  <a:buNone/>
                </a:pPr>
                <a:endParaRPr lang="en-US" altLang="zh-TW" sz="2000" dirty="0"/>
              </a:p>
            </p:txBody>
          </p:sp>
        </mc:Choice>
        <mc:Fallback xmlns="">
          <p:sp>
            <p:nvSpPr>
              <p:cNvPr id="108" name="Google Shape;108;p3">
                <a:extLst>
                  <a:ext uri="{FF2B5EF4-FFF2-40B4-BE49-F238E27FC236}">
                    <a16:creationId xmlns:a16="http://schemas.microsoft.com/office/drawing/2014/main" id="{953219C4-03C0-948D-B223-93A20BCBF5D9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38200" y="1825625"/>
                <a:ext cx="10515600" cy="4351338"/>
              </a:xfrm>
              <a:prstGeom prst="rect">
                <a:avLst/>
              </a:prstGeom>
              <a:blipFill>
                <a:blip r:embed="rId3"/>
                <a:stretch>
                  <a:fillRect l="-110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9" name="Google Shape;109;p3">
            <a:extLst>
              <a:ext uri="{FF2B5EF4-FFF2-40B4-BE49-F238E27FC236}">
                <a16:creationId xmlns:a16="http://schemas.microsoft.com/office/drawing/2014/main" id="{2808821D-8743-947E-D45C-7D0AE6903CFD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助教 陳立堯</a:t>
            </a:r>
            <a:endParaRPr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877AF7F1-00B4-1452-8FA4-9C2B3E04CB93}"/>
              </a:ext>
            </a:extLst>
          </p:cNvPr>
          <p:cNvSpPr txBox="1"/>
          <p:nvPr/>
        </p:nvSpPr>
        <p:spPr>
          <a:xfrm>
            <a:off x="4038600" y="1996899"/>
            <a:ext cx="6096000" cy="20043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gamma = </a:t>
            </a:r>
            <a:r>
              <a:rPr lang="en-US" altLang="zh-TW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1.8</a:t>
            </a:r>
            <a:endParaRPr lang="en-US" altLang="zh-TW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 = </a:t>
            </a:r>
            <a:r>
              <a:rPr lang="en-US" altLang="zh-TW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255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/ (</a:t>
            </a:r>
            <a:r>
              <a:rPr lang="en-US" altLang="zh-TW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255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** gamma)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TW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gamma_corrected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c * (</a:t>
            </a:r>
            <a:r>
              <a:rPr lang="en-US" altLang="zh-TW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img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** gamma)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TW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gamma_corrected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altLang="zh-TW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np.clip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zh-TW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gamma_corrected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zh-TW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zh-TW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255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).</a:t>
            </a:r>
            <a:r>
              <a:rPr lang="en-US" altLang="zh-TW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astype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(np.uint8)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TW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plt.imshow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zh-TW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gamma_corrected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zh-TW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cmap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zh-TW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"gray"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  </a:t>
            </a:r>
          </a:p>
        </p:txBody>
      </p:sp>
    </p:spTree>
    <p:extLst>
      <p:ext uri="{BB962C8B-B14F-4D97-AF65-F5344CB8AC3E}">
        <p14:creationId xmlns:p14="http://schemas.microsoft.com/office/powerpoint/2010/main" val="19549802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F39A57DF-CB4B-2CE5-20AB-2DD71340E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>
            <a:extLst>
              <a:ext uri="{FF2B5EF4-FFF2-40B4-BE49-F238E27FC236}">
                <a16:creationId xmlns:a16="http://schemas.microsoft.com/office/drawing/2014/main" id="{57444AD9-F5DA-9ED2-D6DF-1D78C8F1762F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0" y="1543704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zh-TW" altLang="en-US" dirty="0"/>
              <a:t>直方圖</a:t>
            </a:r>
            <a:endParaRPr dirty="0"/>
          </a:p>
        </p:txBody>
      </p:sp>
      <p:sp>
        <p:nvSpPr>
          <p:cNvPr id="90" name="Google Shape;90;p1">
            <a:extLst>
              <a:ext uri="{FF2B5EF4-FFF2-40B4-BE49-F238E27FC236}">
                <a16:creationId xmlns:a16="http://schemas.microsoft.com/office/drawing/2014/main" id="{0F90E595-87A5-4A9D-CA09-6A7185138E1E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助教 陳立堯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575929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4684E6ED-A3AD-3F8E-D67E-DD35E34C0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F720B534-0AD7-CD2D-F24C-2B51F9C4A8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altLang="zh-TW" dirty="0"/>
              <a:t>Part 2.</a:t>
            </a:r>
            <a:r>
              <a:rPr lang="zh-TW" altLang="en-US" dirty="0"/>
              <a:t>簡介</a:t>
            </a:r>
            <a:endParaRPr dirty="0"/>
          </a:p>
        </p:txBody>
      </p:sp>
      <p:sp>
        <p:nvSpPr>
          <p:cNvPr id="109" name="Google Shape;109;p3">
            <a:extLst>
              <a:ext uri="{FF2B5EF4-FFF2-40B4-BE49-F238E27FC236}">
                <a16:creationId xmlns:a16="http://schemas.microsoft.com/office/drawing/2014/main" id="{31333111-A35C-8FB7-0943-ECBE384D7E05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助教</a:t>
            </a:r>
            <a:r>
              <a:rPr lang="en-US" dirty="0"/>
              <a:t> 陳立堯</a:t>
            </a:r>
            <a:endParaRPr dirty="0"/>
          </a:p>
        </p:txBody>
      </p:sp>
      <p:sp>
        <p:nvSpPr>
          <p:cNvPr id="2" name="Google Shape;108;p3">
            <a:extLst>
              <a:ext uri="{FF2B5EF4-FFF2-40B4-BE49-F238E27FC236}">
                <a16:creationId xmlns:a16="http://schemas.microsoft.com/office/drawing/2014/main" id="{B2CC08BB-AE39-0E15-EC0B-28765BB62E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lnSpc>
                <a:spcPct val="150000"/>
              </a:lnSpc>
              <a:spcBef>
                <a:spcPts val="0"/>
              </a:spcBef>
              <a:buSzPts val="2800"/>
              <a:buNone/>
            </a:pPr>
            <a:r>
              <a:rPr lang="zh-TW" altLang="en-US" sz="2000" dirty="0"/>
              <a:t>直方圖 </a:t>
            </a:r>
            <a:r>
              <a:rPr lang="en-US" altLang="zh-TW" sz="2000" dirty="0"/>
              <a:t>(Histogram) </a:t>
            </a:r>
            <a:r>
              <a:rPr lang="zh-TW" altLang="en-US" sz="2000" dirty="0"/>
              <a:t>：可分析並調整整張影像的像素分布，使影像的 </a:t>
            </a:r>
            <a:r>
              <a:rPr lang="en-US" altLang="zh-TW" sz="2000" dirty="0"/>
              <a:t>1.</a:t>
            </a:r>
            <a:r>
              <a:rPr lang="zh-TW" altLang="en-US" sz="2000" dirty="0"/>
              <a:t>對比 </a:t>
            </a:r>
            <a:r>
              <a:rPr lang="en-US" altLang="zh-TW" sz="2000" dirty="0"/>
              <a:t>2.</a:t>
            </a:r>
            <a:r>
              <a:rPr lang="zh-TW" altLang="en-US" sz="2000" dirty="0"/>
              <a:t>亮度 更加符合需求。</a:t>
            </a:r>
            <a:endParaRPr lang="en-US" altLang="zh-TW" sz="2000" dirty="0"/>
          </a:p>
          <a:p>
            <a:pPr marL="0" lvl="0" indent="0">
              <a:lnSpc>
                <a:spcPct val="150000"/>
              </a:lnSpc>
              <a:spcBef>
                <a:spcPts val="0"/>
              </a:spcBef>
              <a:buSzPts val="2800"/>
              <a:buNone/>
            </a:pPr>
            <a:endParaRPr lang="en-US" altLang="zh-TW" sz="2000" dirty="0"/>
          </a:p>
          <a:p>
            <a:pPr marL="0" lvl="0" indent="0">
              <a:lnSpc>
                <a:spcPct val="150000"/>
              </a:lnSpc>
              <a:spcBef>
                <a:spcPts val="0"/>
              </a:spcBef>
              <a:buSzPts val="2800"/>
              <a:buNone/>
            </a:pPr>
            <a:endParaRPr lang="en-US" altLang="zh-TW" sz="2000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B263C0FC-2C1B-7A9C-72DC-8331985065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4964" y="2744669"/>
            <a:ext cx="7202624" cy="352198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817575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7B8A0E9E-D670-849C-9F43-616535947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A5D80EC4-5D70-1B03-4106-04A8A26992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altLang="zh-TW" dirty="0"/>
              <a:t>Part 2.</a:t>
            </a:r>
            <a:r>
              <a:rPr lang="zh-TW" altLang="en-US" dirty="0"/>
              <a:t>畫圖</a:t>
            </a:r>
            <a:endParaRPr dirty="0"/>
          </a:p>
        </p:txBody>
      </p:sp>
      <p:sp>
        <p:nvSpPr>
          <p:cNvPr id="109" name="Google Shape;109;p3">
            <a:extLst>
              <a:ext uri="{FF2B5EF4-FFF2-40B4-BE49-F238E27FC236}">
                <a16:creationId xmlns:a16="http://schemas.microsoft.com/office/drawing/2014/main" id="{7E58A594-58B3-7A67-29CE-BBCE3FFB72B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助教</a:t>
            </a:r>
            <a:r>
              <a:rPr lang="en-US" dirty="0"/>
              <a:t> 陳立堯</a:t>
            </a:r>
            <a:endParaRPr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5C89DAF4-2FA8-E27B-B6F9-DF70806D9F10}"/>
              </a:ext>
            </a:extLst>
          </p:cNvPr>
          <p:cNvSpPr txBox="1"/>
          <p:nvPr/>
        </p:nvSpPr>
        <p:spPr>
          <a:xfrm>
            <a:off x="923365" y="1688933"/>
            <a:ext cx="6096000" cy="20037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h, w = </a:t>
            </a:r>
            <a:r>
              <a:rPr lang="en-US" altLang="zh-TW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img.shape</a:t>
            </a:r>
            <a:endParaRPr lang="en-US" altLang="zh-TW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hist = </a:t>
            </a:r>
            <a:r>
              <a:rPr lang="en-US" altLang="zh-TW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np.zeros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zh-TW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256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zh-TW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dtype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=np.int32)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TW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for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in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range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(h):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</a:t>
            </a:r>
            <a:r>
              <a:rPr lang="en-US" altLang="zh-TW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for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j </a:t>
            </a:r>
            <a:r>
              <a:rPr lang="en-US" altLang="zh-TW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in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range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(w):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gray = </a:t>
            </a:r>
            <a:r>
              <a:rPr lang="en-US" altLang="zh-TW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img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en-US" altLang="zh-TW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j] </a:t>
            </a:r>
            <a:r>
              <a:rPr lang="en-US" altLang="zh-TW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</a:t>
            </a:r>
            <a:r>
              <a:rPr lang="zh-TW" alt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讀取該像素的灰階值</a:t>
            </a:r>
            <a:endParaRPr lang="zh-TW" alt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zh-TW" alt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hist[gray] += </a:t>
            </a:r>
            <a:r>
              <a:rPr lang="en-US" altLang="zh-TW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</a:t>
            </a:r>
            <a:r>
              <a:rPr lang="zh-TW" alt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統計像素數量</a:t>
            </a:r>
            <a:endParaRPr lang="zh-TW" alt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45913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DE3C35B6-41E1-F2C1-BC6B-5521F66FD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628FE9C8-AD57-3F4B-AB8A-8A502527DCF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altLang="zh-TW" dirty="0"/>
              <a:t>Part 2.</a:t>
            </a:r>
            <a:r>
              <a:rPr lang="zh-TW" altLang="en-US" dirty="0"/>
              <a:t>公式</a:t>
            </a:r>
            <a:endParaRPr dirty="0"/>
          </a:p>
        </p:txBody>
      </p:sp>
      <p:sp>
        <p:nvSpPr>
          <p:cNvPr id="109" name="Google Shape;109;p3">
            <a:extLst>
              <a:ext uri="{FF2B5EF4-FFF2-40B4-BE49-F238E27FC236}">
                <a16:creationId xmlns:a16="http://schemas.microsoft.com/office/drawing/2014/main" id="{F3BB8C49-B8C5-278D-F44A-47D6D341276A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助教</a:t>
            </a:r>
            <a:r>
              <a:rPr lang="en-US" dirty="0"/>
              <a:t> 陳立堯</a:t>
            </a:r>
            <a:endParaRPr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9B645C3-F7D1-B64A-4C60-F225844964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840884"/>
            <a:ext cx="4872318" cy="77957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1B8EF403-7766-4297-3003-B2971EFEF429}"/>
              </a:ext>
            </a:extLst>
          </p:cNvPr>
          <p:cNvSpPr txBox="1"/>
          <p:nvPr/>
        </p:nvSpPr>
        <p:spPr>
          <a:xfrm>
            <a:off x="838200" y="3003176"/>
            <a:ext cx="55626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latin typeface="Calibri" panose="020F0502020204030204" pitchFamily="34" charset="0"/>
                <a:cs typeface="Calibri" panose="020F0502020204030204" pitchFamily="34" charset="0"/>
              </a:rPr>
              <a:t>CDF(</a:t>
            </a:r>
            <a:r>
              <a:rPr lang="zh-TW" altLang="en-US" b="1" dirty="0">
                <a:latin typeface="Calibri" panose="020F0502020204030204" pitchFamily="34" charset="0"/>
                <a:cs typeface="Calibri" panose="020F0502020204030204" pitchFamily="34" charset="0"/>
              </a:rPr>
              <a:t>累積分布函數</a:t>
            </a:r>
            <a:r>
              <a:rPr lang="en-US" altLang="zh-TW" b="1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zh-TW" altLang="en-US" dirty="0">
                <a:latin typeface="Calibri" panose="020F0502020204030204" pitchFamily="34" charset="0"/>
                <a:cs typeface="Calibri" panose="020F0502020204030204" pitchFamily="34" charset="0"/>
              </a:rPr>
              <a:t> 可以理解為，目前為止</a:t>
            </a:r>
            <a:r>
              <a:rPr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&lt;=</a:t>
            </a:r>
            <a:r>
              <a:rPr lang="zh-TW" altLang="en-US" dirty="0">
                <a:latin typeface="Calibri" panose="020F0502020204030204" pitchFamily="34" charset="0"/>
                <a:cs typeface="Calibri" panose="020F0502020204030204" pitchFamily="34" charset="0"/>
              </a:rPr>
              <a:t>該像素的比率</a:t>
            </a:r>
            <a:endParaRPr lang="en-US" altLang="zh-TW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zh-TW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zh-TW" altLang="en-US" dirty="0">
                <a:latin typeface="Calibri" panose="020F0502020204030204" pitchFamily="34" charset="0"/>
                <a:cs typeface="Calibri" panose="020F0502020204030204" pitchFamily="34" charset="0"/>
              </a:rPr>
              <a:t>比方像素 </a:t>
            </a:r>
            <a:r>
              <a:rPr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1~4</a:t>
            </a:r>
            <a:r>
              <a:rPr lang="zh-TW" altLang="en-US" dirty="0">
                <a:latin typeface="Calibri" panose="020F0502020204030204" pitchFamily="34" charset="0"/>
                <a:cs typeface="Calibri" panose="020F0502020204030204" pitchFamily="34" charset="0"/>
              </a:rPr>
              <a:t>，在一張有</a:t>
            </a:r>
            <a:r>
              <a:rPr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100</a:t>
            </a:r>
            <a:r>
              <a:rPr lang="zh-TW" altLang="en-US" dirty="0">
                <a:latin typeface="Calibri" panose="020F0502020204030204" pitchFamily="34" charset="0"/>
                <a:cs typeface="Calibri" panose="020F0502020204030204" pitchFamily="34" charset="0"/>
              </a:rPr>
              <a:t>個像素的圖中</a:t>
            </a:r>
            <a:endParaRPr lang="en-US" altLang="zh-TW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zh-TW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zh-TW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6F54FE4E-E7BB-7717-6CE4-291D949AFD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1564362"/>
              </p:ext>
            </p:extLst>
          </p:nvPr>
        </p:nvGraphicFramePr>
        <p:xfrm>
          <a:off x="838200" y="4224722"/>
          <a:ext cx="3715872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8968">
                  <a:extLst>
                    <a:ext uri="{9D8B030D-6E8A-4147-A177-3AD203B41FA5}">
                      <a16:colId xmlns:a16="http://schemas.microsoft.com/office/drawing/2014/main" val="2939468209"/>
                    </a:ext>
                  </a:extLst>
                </a:gridCol>
                <a:gridCol w="928968">
                  <a:extLst>
                    <a:ext uri="{9D8B030D-6E8A-4147-A177-3AD203B41FA5}">
                      <a16:colId xmlns:a16="http://schemas.microsoft.com/office/drawing/2014/main" val="1904763551"/>
                    </a:ext>
                  </a:extLst>
                </a:gridCol>
                <a:gridCol w="928968">
                  <a:extLst>
                    <a:ext uri="{9D8B030D-6E8A-4147-A177-3AD203B41FA5}">
                      <a16:colId xmlns:a16="http://schemas.microsoft.com/office/drawing/2014/main" val="2107102108"/>
                    </a:ext>
                  </a:extLst>
                </a:gridCol>
                <a:gridCol w="928968">
                  <a:extLst>
                    <a:ext uri="{9D8B030D-6E8A-4147-A177-3AD203B41FA5}">
                      <a16:colId xmlns:a16="http://schemas.microsoft.com/office/drawing/2014/main" val="17783378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TW" altLang="en-US" dirty="0"/>
                        <a:t>像素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出現次數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機率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累積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90138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0.1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0.1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64040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0.2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0.3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89382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30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0.3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0.6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0391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40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0.4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1453705"/>
                  </a:ext>
                </a:extLst>
              </a:tr>
            </a:tbl>
          </a:graphicData>
        </a:graphic>
      </p:graphicFrame>
      <p:pic>
        <p:nvPicPr>
          <p:cNvPr id="8" name="圖片 7">
            <a:extLst>
              <a:ext uri="{FF2B5EF4-FFF2-40B4-BE49-F238E27FC236}">
                <a16:creationId xmlns:a16="http://schemas.microsoft.com/office/drawing/2014/main" id="{970ADE13-7064-A647-A0E9-DA6C976D22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4564" y="1690688"/>
            <a:ext cx="4872318" cy="433653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15431349-E545-5F0A-B639-E33D5CA9DF81}"/>
              </a:ext>
            </a:extLst>
          </p:cNvPr>
          <p:cNvSpPr txBox="1"/>
          <p:nvPr/>
        </p:nvSpPr>
        <p:spPr>
          <a:xfrm>
            <a:off x="6629400" y="1184204"/>
            <a:ext cx="5562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>
                <a:latin typeface="Calibri" panose="020F0502020204030204" pitchFamily="34" charset="0"/>
                <a:cs typeface="Calibri" panose="020F0502020204030204" pitchFamily="34" charset="0"/>
              </a:rPr>
              <a:t>這邊直接用</a:t>
            </a:r>
            <a:r>
              <a:rPr lang="en-US" altLang="zh-TW" dirty="0" err="1">
                <a:latin typeface="Calibri" panose="020F0502020204030204" pitchFamily="34" charset="0"/>
                <a:cs typeface="Calibri" panose="020F0502020204030204" pitchFamily="34" charset="0"/>
              </a:rPr>
              <a:t>np.cumsum</a:t>
            </a:r>
            <a:r>
              <a:rPr lang="zh-TW" altLang="en-US" dirty="0">
                <a:latin typeface="Calibri" panose="020F0502020204030204" pitchFamily="34" charset="0"/>
                <a:cs typeface="Calibri" panose="020F0502020204030204" pitchFamily="34" charset="0"/>
              </a:rPr>
              <a:t>幫我們做</a:t>
            </a:r>
          </a:p>
        </p:txBody>
      </p:sp>
    </p:spTree>
    <p:extLst>
      <p:ext uri="{BB962C8B-B14F-4D97-AF65-F5344CB8AC3E}">
        <p14:creationId xmlns:p14="http://schemas.microsoft.com/office/powerpoint/2010/main" val="32245989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771663D2-20B0-4097-EA1C-7E62E5817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DB901EE8-77FF-11D4-CF5B-917954A12D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 altLang="en-US" dirty="0"/>
              <a:t>本日作業</a:t>
            </a:r>
            <a:endParaRPr dirty="0"/>
          </a:p>
        </p:txBody>
      </p:sp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44440993-5034-4BA1-400A-73D3D5D254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indent="-457200">
              <a:lnSpc>
                <a:spcPct val="150000"/>
              </a:lnSpc>
              <a:spcBef>
                <a:spcPts val="0"/>
              </a:spcBef>
              <a:buSzPts val="2800"/>
              <a:buFont typeface="+mj-lt"/>
              <a:buAutoNum type="arabicPeriod"/>
            </a:pPr>
            <a:r>
              <a:rPr lang="zh-TW" altLang="en-US" sz="2000" dirty="0"/>
              <a:t>找一張圖片</a:t>
            </a:r>
            <a:endParaRPr lang="en-US" altLang="zh-TW" sz="2000" dirty="0"/>
          </a:p>
          <a:p>
            <a:pPr indent="-457200">
              <a:lnSpc>
                <a:spcPct val="150000"/>
              </a:lnSpc>
              <a:spcBef>
                <a:spcPts val="0"/>
              </a:spcBef>
              <a:buSzPts val="2800"/>
              <a:buFont typeface="+mj-lt"/>
              <a:buAutoNum type="arabicPeriod"/>
            </a:pPr>
            <a:r>
              <a:rPr lang="zh-TW" altLang="en-US" sz="2000" dirty="0"/>
              <a:t>做直方圖均衡</a:t>
            </a:r>
            <a:endParaRPr lang="en-US" altLang="zh-TW" sz="2000" dirty="0"/>
          </a:p>
          <a:p>
            <a:pPr indent="-457200">
              <a:lnSpc>
                <a:spcPct val="150000"/>
              </a:lnSpc>
              <a:spcBef>
                <a:spcPts val="0"/>
              </a:spcBef>
              <a:buSzPts val="2800"/>
              <a:buFont typeface="+mj-lt"/>
              <a:buAutoNum type="arabicPeriod"/>
            </a:pPr>
            <a:r>
              <a:rPr lang="zh-TW" altLang="en-US" sz="2000" dirty="0"/>
              <a:t>畫出均衡前後的直方圖</a:t>
            </a:r>
            <a:endParaRPr lang="en-US" altLang="zh-TW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SzPts val="2800"/>
              <a:buNone/>
            </a:pPr>
            <a:endParaRPr sz="2000" dirty="0"/>
          </a:p>
        </p:txBody>
      </p:sp>
      <p:sp>
        <p:nvSpPr>
          <p:cNvPr id="109" name="Google Shape;109;p3">
            <a:extLst>
              <a:ext uri="{FF2B5EF4-FFF2-40B4-BE49-F238E27FC236}">
                <a16:creationId xmlns:a16="http://schemas.microsoft.com/office/drawing/2014/main" id="{AD0E0EE5-09B1-DB32-A165-5A17D84FDDFF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助教 陳立堯</a:t>
            </a:r>
            <a:endParaRPr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D9B7C927-1956-637D-EDBB-3922A95371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9517" y="3630152"/>
            <a:ext cx="9152965" cy="233212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ECA238EB-1354-6F68-B52F-136840D181A6}"/>
              </a:ext>
            </a:extLst>
          </p:cNvPr>
          <p:cNvSpPr txBox="1"/>
          <p:nvPr/>
        </p:nvSpPr>
        <p:spPr>
          <a:xfrm>
            <a:off x="6936440" y="438914"/>
            <a:ext cx="642993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SzPts val="2800"/>
            </a:pPr>
            <a:r>
              <a:rPr lang="zh-TW" alt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請繳交</a:t>
            </a:r>
            <a:endParaRPr lang="en-US" altLang="zh-TW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lnSpc>
                <a:spcPct val="150000"/>
              </a:lnSpc>
              <a:buSzPts val="2800"/>
              <a:buFont typeface="+mj-lt"/>
              <a:buAutoNum type="arabicPeriod"/>
            </a:pPr>
            <a:r>
              <a:rPr lang="zh-TW" alt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原圖</a:t>
            </a:r>
            <a:endParaRPr lang="en-US" altLang="zh-TW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lnSpc>
                <a:spcPct val="150000"/>
              </a:lnSpc>
              <a:buSzPts val="2800"/>
              <a:buFont typeface="+mj-lt"/>
              <a:buAutoNum type="arabicPeriod"/>
            </a:pPr>
            <a:r>
              <a:rPr lang="zh-TW" alt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均衡後圖</a:t>
            </a:r>
            <a:endParaRPr lang="en-US" altLang="zh-TW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lnSpc>
                <a:spcPct val="150000"/>
              </a:lnSpc>
              <a:buSzPts val="2800"/>
              <a:buFont typeface="+mj-lt"/>
              <a:buAutoNum type="arabicPeriod"/>
            </a:pPr>
            <a:r>
              <a:rPr lang="zh-TW" alt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直方圖</a:t>
            </a:r>
            <a:r>
              <a:rPr lang="en-US" altLang="zh-TW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zh-TW" alt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均衡前</a:t>
            </a:r>
            <a:r>
              <a:rPr lang="en-US" altLang="zh-TW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457200" indent="-457200">
              <a:lnSpc>
                <a:spcPct val="150000"/>
              </a:lnSpc>
              <a:buSzPts val="2800"/>
              <a:buFont typeface="+mj-lt"/>
              <a:buAutoNum type="arabicPeriod"/>
            </a:pPr>
            <a:r>
              <a:rPr lang="zh-TW" alt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直方圖</a:t>
            </a:r>
            <a:r>
              <a:rPr lang="en-US" altLang="zh-TW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zh-TW" alt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均衡後</a:t>
            </a:r>
            <a:r>
              <a:rPr lang="en-US" altLang="zh-TW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>
              <a:lnSpc>
                <a:spcPct val="150000"/>
              </a:lnSpc>
              <a:buSzPts val="2800"/>
            </a:pPr>
            <a:r>
              <a:rPr lang="zh-TW" alt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檔案限制</a:t>
            </a:r>
            <a:r>
              <a:rPr lang="en-US" altLang="zh-TW" sz="1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.jpg</a:t>
            </a:r>
            <a:r>
              <a:rPr lang="zh-TW" alt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或</a:t>
            </a:r>
            <a:r>
              <a:rPr lang="en-US" altLang="zh-TW" sz="1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en-US" altLang="zh-TW" sz="1800" b="1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png</a:t>
            </a:r>
            <a:endParaRPr lang="en-US" altLang="zh-TW" sz="180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zh-TW" alt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57583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2349</TotalTime>
  <Words>519</Words>
  <Application>Microsoft Office PowerPoint</Application>
  <PresentationFormat>寬螢幕</PresentationFormat>
  <Paragraphs>91</Paragraphs>
  <Slides>10</Slides>
  <Notes>10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6" baseType="lpstr">
      <vt:lpstr>Arial</vt:lpstr>
      <vt:lpstr>Calibri</vt:lpstr>
      <vt:lpstr>Cambria Math</vt:lpstr>
      <vt:lpstr>Courier New</vt:lpstr>
      <vt:lpstr>Wingdings</vt:lpstr>
      <vt:lpstr>Office 佈景主題</vt:lpstr>
      <vt:lpstr>影像處理實習</vt:lpstr>
      <vt:lpstr>強度轉換</vt:lpstr>
      <vt:lpstr>Part 1.線性轉換</vt:lpstr>
      <vt:lpstr>Part 1.對數轉換</vt:lpstr>
      <vt:lpstr>Part 1.Gamma校正</vt:lpstr>
      <vt:lpstr>直方圖</vt:lpstr>
      <vt:lpstr>Part 2.簡介</vt:lpstr>
      <vt:lpstr>Part 2.畫圖</vt:lpstr>
      <vt:lpstr>Part 2.公式</vt:lpstr>
      <vt:lpstr>本日作業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立堯 陳</dc:creator>
  <cp:lastModifiedBy>立堯 陳</cp:lastModifiedBy>
  <cp:revision>8</cp:revision>
  <dcterms:created xsi:type="dcterms:W3CDTF">2025-09-17T03:10:46Z</dcterms:created>
  <dcterms:modified xsi:type="dcterms:W3CDTF">2025-10-07T04:34:05Z</dcterms:modified>
</cp:coreProperties>
</file>