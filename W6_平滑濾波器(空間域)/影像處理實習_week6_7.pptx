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72" r:id="rId3"/>
    <p:sldId id="277" r:id="rId4"/>
    <p:sldId id="289" r:id="rId5"/>
    <p:sldId id="290" r:id="rId6"/>
    <p:sldId id="288" r:id="rId7"/>
    <p:sldId id="301" r:id="rId8"/>
    <p:sldId id="284" r:id="rId9"/>
    <p:sldId id="291" r:id="rId10"/>
    <p:sldId id="297" r:id="rId11"/>
    <p:sldId id="305" r:id="rId12"/>
    <p:sldId id="294" r:id="rId13"/>
    <p:sldId id="295" r:id="rId14"/>
    <p:sldId id="296" r:id="rId15"/>
    <p:sldId id="306" r:id="rId16"/>
    <p:sldId id="299" r:id="rId17"/>
    <p:sldId id="300" r:id="rId18"/>
    <p:sldId id="302" r:id="rId19"/>
    <p:sldId id="303" r:id="rId20"/>
    <p:sldId id="287" r:id="rId21"/>
    <p:sldId id="298" r:id="rId22"/>
    <p:sldId id="304" r:id="rId23"/>
    <p:sldId id="307" r:id="rId24"/>
    <p:sldId id="308" r:id="rId2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3jAldOCOlQ2K/yXtDqaxcGlxn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A7528F06-2C3B-1A20-1457-AF36E7AA2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>
            <a:extLst>
              <a:ext uri="{FF2B5EF4-FFF2-40B4-BE49-F238E27FC236}">
                <a16:creationId xmlns:a16="http://schemas.microsoft.com/office/drawing/2014/main" id="{3AD94A72-BFA5-7837-46C7-94BF7C1699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>
            <a:extLst>
              <a:ext uri="{FF2B5EF4-FFF2-40B4-BE49-F238E27FC236}">
                <a16:creationId xmlns:a16="http://schemas.microsoft.com/office/drawing/2014/main" id="{41425FB1-C3F6-73E8-17D6-A3FB0269F8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26275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3EE52481-3A80-5669-DB09-E2922FB00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DBA33B77-D3C0-E495-8B9C-6274C6ACD1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62DB7665-0006-2870-2203-BDCD379F4D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265693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FE2D02A3-6BA9-5B8B-ED2E-09DB83546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2AA69BFE-E469-02F7-AAD5-63472EA789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4AB33790-9523-A5EB-A824-5A79F26F21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28658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87BF56B2-BCD3-6B5D-A908-E0D3DC167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>
            <a:extLst>
              <a:ext uri="{FF2B5EF4-FFF2-40B4-BE49-F238E27FC236}">
                <a16:creationId xmlns:a16="http://schemas.microsoft.com/office/drawing/2014/main" id="{52C3DC45-D8B0-62F5-3975-65AE471F6F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>
            <a:extLst>
              <a:ext uri="{FF2B5EF4-FFF2-40B4-BE49-F238E27FC236}">
                <a16:creationId xmlns:a16="http://schemas.microsoft.com/office/drawing/2014/main" id="{54513B5F-C809-31B5-DF3F-7B5EF8D7CA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61383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078F10EF-B74E-6156-5991-6CB0EA2E8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12C597CC-9A51-A1BF-6C44-2114AAFCA8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F14FFBB7-0BAF-ECC9-F2CB-C1294413FC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31102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4CED7328-E5B5-A669-7FD1-20CBDBCAB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679A30C0-2625-ADD5-1F1B-54626497CA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5A25A51A-0472-44D6-CC2B-B734B3B6EF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017242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C30C0374-ACFE-FA66-DDC3-FD7E614B5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D5D0AB6F-E89A-2194-D502-C1034F3790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39CBC693-53B3-F18B-AA38-08B1DE1647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155892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7ECCFA16-8C51-260F-5B76-973CAB064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4E985492-AD6B-C3A9-B136-3665EF18B6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415732B1-18C6-E3DF-E77A-6726552E71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290909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FE4A1D5A-EC1C-F0A3-1D65-E97CED2C3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2DA7E5CA-4ED3-6704-DB8B-96D490D350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CC7FDE23-1937-FEA5-006E-EDA7CB3F97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472161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0AF73A41-EE6B-E810-DC4E-9873548B5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9D10A009-BB2D-E755-3CC4-EDCBF603C0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9D5C747D-C16E-B034-105D-84446E435C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661730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F7F7CC14-9835-AB67-1ED0-409FEFC87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>
            <a:extLst>
              <a:ext uri="{FF2B5EF4-FFF2-40B4-BE49-F238E27FC236}">
                <a16:creationId xmlns:a16="http://schemas.microsoft.com/office/drawing/2014/main" id="{B241BBFB-4F00-17B3-3190-42E516FC58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>
            <a:extLst>
              <a:ext uri="{FF2B5EF4-FFF2-40B4-BE49-F238E27FC236}">
                <a16:creationId xmlns:a16="http://schemas.microsoft.com/office/drawing/2014/main" id="{F5842C7E-9810-443E-218B-F41EB30178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064263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A388498A-9E96-BD26-B280-749331C39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BA825571-5621-9628-F4B6-9B844730DC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4E53BBA8-C649-D469-022F-EC162A5794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124758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8602EAA1-5785-8F40-4236-D937FE188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E8F0B1DA-84CA-6A6A-24D9-63033695F1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120813F7-41F2-C9FF-75B3-52065EEDE9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376959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16D2804F-1141-6F1C-5079-75DC2A147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D3676399-2845-F5F5-6A54-094B20BE75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FFAAC87C-DF19-B168-BAFF-512538E466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299482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C4058EBB-12A2-78CC-29C5-F1AC4FC51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4F9DC050-7632-D73D-6F6A-130212C94A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2849FA7E-4BD5-C03B-1392-88A9539968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18509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B0551F88-2063-F7E1-54BF-F8D720823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56E35BB6-CF90-A27F-1D87-89C79A5172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40EC9926-9F72-ED6B-6F64-F72265D619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671828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8E0DC98A-9B80-6603-8362-F38542AC4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C45DB105-A883-CCD1-B8A1-8A1B73A422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BB0AF61B-2D1F-769A-3171-E56D6C9A4D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823114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B57C3CD7-D5CA-BEA0-5CB9-7B1016510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A64682BE-A0DF-B9FE-205A-FAD294DEAD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099DD611-8479-7E50-6071-9CDA18B56A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982316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B3AB60D9-62CF-F9DE-B785-1EC95AA75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2517BBD6-3483-269D-9561-C8D7EF64BD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688D7238-E0F8-5C36-FED7-3E6ABBCA15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295354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B1963360-A1F3-0710-C078-40DBACDA1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7C716D12-D86F-E0CA-B745-F597765258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7515E8DD-E37D-5E26-C4AD-BD9848927D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465203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7A858AC7-24B0-284C-A09A-60CB562E2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BBDEEFBC-40AF-8CF0-B6C6-E5C416431C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21AB1E0F-0FB7-A6A6-0F14-69FEBFFEE6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4366606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457F4EF9-09E3-3707-70F9-88590BEDD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A3F4B22C-94ED-B1FC-2144-E852B15A70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79EBE421-177F-BBEE-8ADB-A7DD204C63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4247748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6F985B95-A270-0BF6-C880-07A1F241F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>
            <a:extLst>
              <a:ext uri="{FF2B5EF4-FFF2-40B4-BE49-F238E27FC236}">
                <a16:creationId xmlns:a16="http://schemas.microsoft.com/office/drawing/2014/main" id="{E47768E3-95D3-D23D-AE6A-A28B258734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>
            <a:extLst>
              <a:ext uri="{FF2B5EF4-FFF2-40B4-BE49-F238E27FC236}">
                <a16:creationId xmlns:a16="http://schemas.microsoft.com/office/drawing/2014/main" id="{E5F14F23-CF36-A149-EF7F-808B397D54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567202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內容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章節標題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個內容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較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輔助字幕的內容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輔助字幕的圖片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dirty="0" err="1"/>
              <a:t>影像處理實習</a:t>
            </a:r>
            <a:endParaRPr dirty="0"/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dirty="0"/>
              <a:t>Week </a:t>
            </a:r>
            <a:r>
              <a:rPr lang="en-US" altLang="zh-TW" sz="2000" dirty="0"/>
              <a:t>6-7</a:t>
            </a:r>
            <a:r>
              <a:rPr lang="en-US" sz="2000" dirty="0"/>
              <a:t>. </a:t>
            </a:r>
            <a:r>
              <a:rPr lang="zh-TW" altLang="en-US" sz="2000" dirty="0"/>
              <a:t>空間濾波 </a:t>
            </a:r>
            <a:r>
              <a:rPr lang="en-US" altLang="zh-TW" sz="2000" dirty="0"/>
              <a:t>– </a:t>
            </a:r>
            <a:r>
              <a:rPr lang="zh-TW" altLang="en-US" sz="2000" dirty="0"/>
              <a:t>平滑濾波</a:t>
            </a:r>
            <a:endParaRPr lang="en-US" altLang="zh-TW" sz="2000" dirty="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dirty="0"/>
          </a:p>
        </p:txBody>
      </p:sp>
      <p:sp>
        <p:nvSpPr>
          <p:cNvPr id="90" name="Google Shape;90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助教 陳立堯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5BC44933-281D-D276-D431-B7A448A12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>
            <a:extLst>
              <a:ext uri="{FF2B5EF4-FFF2-40B4-BE49-F238E27FC236}">
                <a16:creationId xmlns:a16="http://schemas.microsoft.com/office/drawing/2014/main" id="{179D4533-5D83-F6A5-D36D-AE8D3E13805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0" y="1543704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zh-TW" altLang="en-US" dirty="0"/>
              <a:t>濾波簡介</a:t>
            </a:r>
            <a:endParaRPr dirty="0"/>
          </a:p>
        </p:txBody>
      </p:sp>
      <p:sp>
        <p:nvSpPr>
          <p:cNvPr id="90" name="Google Shape;90;p1">
            <a:extLst>
              <a:ext uri="{FF2B5EF4-FFF2-40B4-BE49-F238E27FC236}">
                <a16:creationId xmlns:a16="http://schemas.microsoft.com/office/drawing/2014/main" id="{F96DF18B-ABD2-A4E5-2E40-3A13CA30975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助教 陳立堯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0222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0E64F907-2DA2-6963-2326-CCD689261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0C4ED75A-DF0E-977B-F245-5DF0C8A467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altLang="zh-TW" dirty="0"/>
              <a:t>Part 1. </a:t>
            </a:r>
            <a:r>
              <a:rPr lang="zh-TW" altLang="en-US" dirty="0"/>
              <a:t>前言</a:t>
            </a:r>
            <a:endParaRPr dirty="0"/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A1CCB1A2-1745-6355-64E6-1DB8819DA2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r>
              <a:rPr lang="zh-TW" altLang="en-US" sz="2000" dirty="0"/>
              <a:t>濾波本來是信號處理的概念，意味著保留重要部分、去除不必要的雜訊。影像處理中，濾波通常用來 </a:t>
            </a:r>
            <a:r>
              <a:rPr lang="en-US" altLang="zh-TW" sz="2000" dirty="0"/>
              <a:t>1.</a:t>
            </a:r>
            <a:r>
              <a:rPr lang="zh-TW" altLang="en-US" sz="2000" dirty="0"/>
              <a:t>去除影像中的雜訊 </a:t>
            </a:r>
            <a:r>
              <a:rPr lang="en-US" altLang="zh-TW" sz="2000" dirty="0"/>
              <a:t>2.</a:t>
            </a:r>
            <a:r>
              <a:rPr lang="zh-TW" altLang="en-US" sz="2000" dirty="0"/>
              <a:t>平滑化影像 </a:t>
            </a:r>
            <a:r>
              <a:rPr lang="en-US" altLang="zh-TW" sz="2000" dirty="0"/>
              <a:t>3.</a:t>
            </a:r>
            <a:r>
              <a:rPr lang="zh-TW" altLang="en-US" sz="2000" dirty="0"/>
              <a:t>強調特徵。依照操作可以分為</a:t>
            </a:r>
            <a:r>
              <a:rPr lang="zh-TW" altLang="en-US" sz="2000" b="1" dirty="0"/>
              <a:t>空間域</a:t>
            </a:r>
            <a:r>
              <a:rPr lang="en-US" altLang="zh-TW" sz="2000" dirty="0"/>
              <a:t>(</a:t>
            </a:r>
            <a:r>
              <a:rPr lang="zh-TW" altLang="en-US" sz="2000" dirty="0"/>
              <a:t>像素空間</a:t>
            </a:r>
            <a:r>
              <a:rPr lang="en-US" altLang="zh-TW" sz="2000" dirty="0"/>
              <a:t>)</a:t>
            </a:r>
            <a:r>
              <a:rPr lang="zh-TW" altLang="en-US" sz="2000" dirty="0"/>
              <a:t>與</a:t>
            </a:r>
            <a:r>
              <a:rPr lang="zh-TW" altLang="en-US" sz="2000" b="1" dirty="0"/>
              <a:t>頻率域</a:t>
            </a:r>
            <a:r>
              <a:rPr lang="en-US" altLang="zh-TW" sz="2000" dirty="0"/>
              <a:t>(</a:t>
            </a:r>
            <a:r>
              <a:rPr lang="zh-TW" altLang="en-US" sz="2000" dirty="0"/>
              <a:t>頻率空間</a:t>
            </a:r>
            <a:r>
              <a:rPr lang="en-US" altLang="zh-TW" sz="2000" dirty="0"/>
              <a:t>)</a:t>
            </a:r>
            <a:r>
              <a:rPr lang="zh-TW" altLang="en-US" sz="2000" dirty="0"/>
              <a:t>，而依照計算性質可分為</a:t>
            </a:r>
            <a:r>
              <a:rPr lang="zh-TW" altLang="en-US" sz="2000" b="1" dirty="0"/>
              <a:t>線性</a:t>
            </a:r>
            <a:r>
              <a:rPr lang="zh-TW" altLang="en-US" sz="2000" dirty="0"/>
              <a:t>與</a:t>
            </a:r>
            <a:r>
              <a:rPr lang="zh-TW" altLang="en-US" sz="2000" b="1" dirty="0"/>
              <a:t>非線性</a:t>
            </a:r>
            <a:r>
              <a:rPr lang="zh-TW" altLang="en-US" sz="2000" dirty="0"/>
              <a:t>。</a:t>
            </a:r>
            <a:endParaRPr lang="en-US" altLang="zh-TW" sz="2000" dirty="0">
              <a:solidFill>
                <a:schemeClr val="tx1"/>
              </a:solidFill>
            </a:endParaRPr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FF57DB93-D079-DBDE-E2F7-48A7C0E4BD4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助教</a:t>
            </a:r>
            <a:r>
              <a:rPr lang="en-US" dirty="0"/>
              <a:t> 陳立堯</a:t>
            </a:r>
            <a:endParaRPr dirty="0"/>
          </a:p>
        </p:txBody>
      </p:sp>
      <p:cxnSp>
        <p:nvCxnSpPr>
          <p:cNvPr id="3" name="直線接點 2">
            <a:extLst>
              <a:ext uri="{FF2B5EF4-FFF2-40B4-BE49-F238E27FC236}">
                <a16:creationId xmlns:a16="http://schemas.microsoft.com/office/drawing/2014/main" id="{06FDAE31-6ED0-B51D-D2D3-70017FCAA51F}"/>
              </a:ext>
            </a:extLst>
          </p:cNvPr>
          <p:cNvCxnSpPr/>
          <p:nvPr/>
        </p:nvCxnSpPr>
        <p:spPr>
          <a:xfrm>
            <a:off x="5938982" y="3429000"/>
            <a:ext cx="0" cy="2620818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0781722E-689B-FEA4-E756-D2C9A69E043F}"/>
              </a:ext>
            </a:extLst>
          </p:cNvPr>
          <p:cNvSpPr/>
          <p:nvPr/>
        </p:nvSpPr>
        <p:spPr>
          <a:xfrm>
            <a:off x="1856509" y="4230255"/>
            <a:ext cx="2466109" cy="10991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空間域濾波</a:t>
            </a: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6D4A5268-944D-8B6F-75A2-11AEBDD2F70B}"/>
              </a:ext>
            </a:extLst>
          </p:cNvPr>
          <p:cNvSpPr/>
          <p:nvPr/>
        </p:nvSpPr>
        <p:spPr>
          <a:xfrm>
            <a:off x="7413337" y="4230255"/>
            <a:ext cx="2466109" cy="1099127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頻率域濾波</a:t>
            </a:r>
          </a:p>
        </p:txBody>
      </p:sp>
    </p:spTree>
    <p:extLst>
      <p:ext uri="{BB962C8B-B14F-4D97-AF65-F5344CB8AC3E}">
        <p14:creationId xmlns:p14="http://schemas.microsoft.com/office/powerpoint/2010/main" val="3062628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D63C5F1C-E7F8-2E1B-5350-ACCDDD971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572DDA6A-FF30-AA53-1AE9-B54A1F1EA3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altLang="zh-TW" dirty="0"/>
              <a:t>Part 1. </a:t>
            </a:r>
            <a:r>
              <a:rPr lang="zh-TW" altLang="en-US" dirty="0"/>
              <a:t>關於空間濾波</a:t>
            </a:r>
            <a:endParaRPr dirty="0"/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17A2A14C-7990-DEC7-67B9-080EC35BA2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4"/>
            <a:ext cx="105156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r>
              <a:rPr lang="zh-TW" altLang="en-US" sz="2000" dirty="0">
                <a:solidFill>
                  <a:schemeClr val="tx1"/>
                </a:solidFill>
              </a:rPr>
              <a:t>主要探討</a:t>
            </a:r>
            <a:r>
              <a:rPr lang="zh-TW" altLang="en-US" sz="2000" dirty="0"/>
              <a:t>影像的空間座標 </a:t>
            </a:r>
            <a:r>
              <a:rPr lang="en-US" altLang="zh-TW" sz="2000" dirty="0"/>
              <a:t>(x, y)</a:t>
            </a:r>
            <a:r>
              <a:rPr lang="zh-TW" altLang="en-US" sz="2000" dirty="0"/>
              <a:t>，直接地對影像作操作，也可以說是以像素位置為基準，和其鄰居的值來進行運算。</a:t>
            </a:r>
            <a:endParaRPr lang="en-US" altLang="zh-TW" sz="2000" dirty="0"/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endParaRPr lang="en-US" altLang="zh-TW" sz="2000" dirty="0"/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r>
              <a:rPr lang="zh-TW" altLang="en-US" sz="2000" dirty="0">
                <a:solidFill>
                  <a:schemeClr val="tx1"/>
                </a:solidFill>
              </a:rPr>
              <a:t>包含了：</a:t>
            </a:r>
            <a:endParaRPr lang="en-US" altLang="zh-TW" sz="2000" dirty="0">
              <a:solidFill>
                <a:schemeClr val="tx1"/>
              </a:solidFill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r>
              <a:rPr lang="en-US" altLang="zh-TW" sz="2000" dirty="0">
                <a:solidFill>
                  <a:schemeClr val="tx1"/>
                </a:solidFill>
              </a:rPr>
              <a:t>1.</a:t>
            </a:r>
            <a:r>
              <a:rPr lang="zh-TW" altLang="en-US" sz="2000" dirty="0">
                <a:solidFill>
                  <a:schemeClr val="tx1"/>
                </a:solidFill>
              </a:rPr>
              <a:t> </a:t>
            </a:r>
            <a:r>
              <a:rPr lang="zh-TW" altLang="en-US" sz="2000" b="1" dirty="0">
                <a:solidFill>
                  <a:schemeClr val="tx1"/>
                </a:solidFill>
              </a:rPr>
              <a:t>平滑</a:t>
            </a:r>
            <a:r>
              <a:rPr lang="zh-TW" altLang="en-US" sz="2000" dirty="0">
                <a:solidFill>
                  <a:schemeClr val="tx1"/>
                </a:solidFill>
              </a:rPr>
              <a:t>濾波 </a:t>
            </a:r>
            <a:r>
              <a:rPr lang="en-US" altLang="zh-TW" sz="2000" dirty="0">
                <a:solidFill>
                  <a:schemeClr val="tx1"/>
                </a:solidFill>
              </a:rPr>
              <a:t>(</a:t>
            </a:r>
            <a:r>
              <a:rPr lang="zh-TW" altLang="en-US" sz="2000" dirty="0">
                <a:solidFill>
                  <a:schemeClr val="tx1"/>
                </a:solidFill>
              </a:rPr>
              <a:t>降躁</a:t>
            </a:r>
            <a:r>
              <a:rPr lang="en-US" altLang="zh-TW" sz="2000" dirty="0">
                <a:solidFill>
                  <a:schemeClr val="tx1"/>
                </a:solidFill>
              </a:rPr>
              <a:t>&amp;</a:t>
            </a:r>
            <a:r>
              <a:rPr lang="zh-TW" altLang="en-US" sz="2000" dirty="0">
                <a:solidFill>
                  <a:schemeClr val="tx1"/>
                </a:solidFill>
              </a:rPr>
              <a:t>模糊</a:t>
            </a:r>
            <a:r>
              <a:rPr lang="en-US" altLang="zh-TW" sz="2000" dirty="0">
                <a:solidFill>
                  <a:schemeClr val="tx1"/>
                </a:solidFill>
              </a:rPr>
              <a:t>)</a:t>
            </a:r>
          </a:p>
          <a:p>
            <a:pPr marL="800100" lvl="1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zh-TW" altLang="en-US" sz="1600" dirty="0">
                <a:solidFill>
                  <a:schemeClr val="tx1"/>
                </a:solidFill>
              </a:rPr>
              <a:t>高斯濾波</a:t>
            </a:r>
            <a:endParaRPr lang="en-US" altLang="zh-TW" sz="1600" dirty="0">
              <a:solidFill>
                <a:schemeClr val="tx1"/>
              </a:solidFill>
            </a:endParaRPr>
          </a:p>
          <a:p>
            <a:pPr marL="800100" lvl="1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zh-TW" altLang="en-US" sz="1600" dirty="0">
                <a:solidFill>
                  <a:schemeClr val="tx1"/>
                </a:solidFill>
              </a:rPr>
              <a:t>均值濾波</a:t>
            </a:r>
            <a:endParaRPr lang="en-US" altLang="zh-TW" sz="1600" dirty="0">
              <a:solidFill>
                <a:schemeClr val="tx1"/>
              </a:solidFill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r>
              <a:rPr lang="en-US" altLang="zh-TW" sz="2000" dirty="0">
                <a:solidFill>
                  <a:schemeClr val="tx1"/>
                </a:solidFill>
              </a:rPr>
              <a:t>2.</a:t>
            </a:r>
            <a:r>
              <a:rPr lang="zh-TW" altLang="en-US" sz="2000" dirty="0">
                <a:solidFill>
                  <a:schemeClr val="tx1"/>
                </a:solidFill>
              </a:rPr>
              <a:t> </a:t>
            </a:r>
            <a:r>
              <a:rPr lang="zh-TW" altLang="en-US" sz="2000" b="1" dirty="0">
                <a:solidFill>
                  <a:schemeClr val="tx1"/>
                </a:solidFill>
              </a:rPr>
              <a:t>銳化</a:t>
            </a:r>
            <a:r>
              <a:rPr lang="zh-TW" altLang="en-US" sz="2000" dirty="0">
                <a:solidFill>
                  <a:schemeClr val="tx1"/>
                </a:solidFill>
              </a:rPr>
              <a:t>濾波 </a:t>
            </a:r>
            <a:r>
              <a:rPr lang="en-US" altLang="zh-TW" sz="2000" dirty="0">
                <a:solidFill>
                  <a:schemeClr val="tx1"/>
                </a:solidFill>
              </a:rPr>
              <a:t>(</a:t>
            </a:r>
            <a:r>
              <a:rPr lang="zh-TW" altLang="en-US" sz="2000" dirty="0">
                <a:solidFill>
                  <a:schemeClr val="tx1"/>
                </a:solidFill>
              </a:rPr>
              <a:t>邊緣</a:t>
            </a:r>
            <a:r>
              <a:rPr lang="en-US" altLang="zh-TW" sz="2000" dirty="0">
                <a:solidFill>
                  <a:schemeClr val="tx1"/>
                </a:solidFill>
              </a:rPr>
              <a:t>&amp;</a:t>
            </a:r>
            <a:r>
              <a:rPr lang="zh-TW" altLang="en-US" sz="2000" dirty="0">
                <a:solidFill>
                  <a:schemeClr val="tx1"/>
                </a:solidFill>
              </a:rPr>
              <a:t>細節</a:t>
            </a:r>
            <a:r>
              <a:rPr lang="en-US" altLang="zh-TW" sz="2000" dirty="0">
                <a:solidFill>
                  <a:schemeClr val="tx1"/>
                </a:solidFill>
              </a:rPr>
              <a:t>)</a:t>
            </a:r>
          </a:p>
          <a:p>
            <a:pPr marL="800100" lvl="1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US" altLang="zh-TW" sz="1600" dirty="0">
                <a:solidFill>
                  <a:schemeClr val="tx1"/>
                </a:solidFill>
              </a:rPr>
              <a:t>Sobel</a:t>
            </a:r>
            <a:r>
              <a:rPr lang="zh-TW" altLang="en-US" sz="1600" dirty="0">
                <a:solidFill>
                  <a:schemeClr val="tx1"/>
                </a:solidFill>
              </a:rPr>
              <a:t>算子</a:t>
            </a:r>
            <a:endParaRPr lang="en-US" altLang="zh-TW" sz="1600" dirty="0">
              <a:solidFill>
                <a:schemeClr val="tx1"/>
              </a:solidFill>
            </a:endParaRPr>
          </a:p>
          <a:p>
            <a:pPr marL="800100" lvl="1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zh-TW" altLang="en-US" sz="1600" dirty="0">
                <a:solidFill>
                  <a:schemeClr val="tx1"/>
                </a:solidFill>
              </a:rPr>
              <a:t>拉普拉斯算子</a:t>
            </a:r>
            <a:endParaRPr lang="en-US" altLang="zh-TW" sz="1600" dirty="0">
              <a:solidFill>
                <a:schemeClr val="tx1"/>
              </a:solidFill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endParaRPr lang="en-US" altLang="zh-TW" sz="2000" dirty="0">
              <a:solidFill>
                <a:schemeClr val="tx1"/>
              </a:solidFill>
            </a:endParaRPr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7E336042-DB0F-F6A9-DA65-76F88ED4DB5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助教 陳立堯</a:t>
            </a:r>
            <a:endParaRPr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F4E81B4-6F60-3896-6551-38372AB475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9718" y="2565040"/>
            <a:ext cx="2923287" cy="3322926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FC7D46B8-EC53-2ECA-E953-E4A6CD857CDE}"/>
              </a:ext>
            </a:extLst>
          </p:cNvPr>
          <p:cNvSpPr txBox="1"/>
          <p:nvPr/>
        </p:nvSpPr>
        <p:spPr>
          <a:xfrm>
            <a:off x="6844146" y="5952130"/>
            <a:ext cx="360218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/>
              <a:t>https://blog.csdn.net/ice__snow/article/details/126978318</a:t>
            </a:r>
            <a:endParaRPr lang="zh-TW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080498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3F45A644-26B0-081D-2167-68BB551CB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>
            <a:extLst>
              <a:ext uri="{FF2B5EF4-FFF2-40B4-BE49-F238E27FC236}">
                <a16:creationId xmlns:a16="http://schemas.microsoft.com/office/drawing/2014/main" id="{41C312E8-D475-ECF6-0D6D-18C05FD1A5A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0" y="1543704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zh-TW" altLang="en-US" dirty="0"/>
              <a:t>平滑濾波器</a:t>
            </a:r>
            <a:r>
              <a:rPr lang="en-US" altLang="zh-TW" dirty="0"/>
              <a:t>(</a:t>
            </a:r>
            <a:r>
              <a:rPr lang="zh-TW" altLang="en-US" dirty="0"/>
              <a:t>線性</a:t>
            </a:r>
            <a:r>
              <a:rPr lang="en-US" altLang="zh-TW" dirty="0"/>
              <a:t>)</a:t>
            </a:r>
            <a:endParaRPr dirty="0"/>
          </a:p>
        </p:txBody>
      </p:sp>
      <p:sp>
        <p:nvSpPr>
          <p:cNvPr id="90" name="Google Shape;90;p1">
            <a:extLst>
              <a:ext uri="{FF2B5EF4-FFF2-40B4-BE49-F238E27FC236}">
                <a16:creationId xmlns:a16="http://schemas.microsoft.com/office/drawing/2014/main" id="{B96A2D91-91F3-4926-AD83-B7A013D1901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助教 陳立堯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95520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71C578AC-19CD-BFCB-E3A9-5B76B0D9E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BC03A627-201C-D678-5341-EA00052A9C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altLang="zh-TW" dirty="0"/>
              <a:t>Part 2. </a:t>
            </a:r>
            <a:r>
              <a:rPr lang="zh-TW" altLang="en-US" dirty="0"/>
              <a:t>均值濾波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Google Shape;108;p3">
                <a:extLst>
                  <a:ext uri="{FF2B5EF4-FFF2-40B4-BE49-F238E27FC236}">
                    <a16:creationId xmlns:a16="http://schemas.microsoft.com/office/drawing/2014/main" id="{37A524C1-36D0-9F7A-9B2A-E88357E842E8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838200" y="1825625"/>
                <a:ext cx="10515600" cy="43513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0" lvl="0" indent="0">
                  <a:lnSpc>
                    <a:spcPct val="150000"/>
                  </a:lnSpc>
                  <a:spcBef>
                    <a:spcPts val="0"/>
                  </a:spcBef>
                  <a:buSzPts val="2800"/>
                  <a:buNone/>
                </a:pPr>
                <a:r>
                  <a:rPr lang="zh-TW" altLang="en-US" sz="2000" dirty="0">
                    <a:solidFill>
                      <a:schemeClr val="tx1"/>
                    </a:solidFill>
                  </a:rPr>
                  <a:t>最基礎的濾波方法，</a:t>
                </a:r>
                <a:r>
                  <a:rPr lang="zh-TW" altLang="en-US" sz="2000" dirty="0"/>
                  <a:t>用一個像素點周圍鄰近像素的平均值來取代該像素點的原始值。</a:t>
                </a:r>
                <a:endParaRPr lang="en-US" altLang="zh-TW" sz="2000" dirty="0"/>
              </a:p>
              <a:p>
                <a:pPr marL="0" lvl="0" indent="0">
                  <a:lnSpc>
                    <a:spcPct val="150000"/>
                  </a:lnSpc>
                  <a:spcBef>
                    <a:spcPts val="0"/>
                  </a:spcBef>
                  <a:buSzPts val="2800"/>
                  <a:buNone/>
                </a:pPr>
                <a:r>
                  <a:rPr lang="zh-TW" altLang="en-US" sz="2000" dirty="0"/>
                  <a:t>假設要算其中一個點，像素值</a:t>
                </a:r>
                <a:r>
                  <a:rPr lang="en-US" altLang="zh-TW" sz="2000" dirty="0"/>
                  <a:t>30</a:t>
                </a:r>
                <a:r>
                  <a:rPr lang="zh-TW" altLang="en-US" sz="2000" dirty="0"/>
                  <a:t>：</a:t>
                </a:r>
                <a:endParaRPr lang="en-US" altLang="zh-TW" sz="2000" dirty="0"/>
              </a:p>
              <a:p>
                <a:pPr marL="0" lvl="0" indent="0">
                  <a:lnSpc>
                    <a:spcPct val="150000"/>
                  </a:lnSpc>
                  <a:spcBef>
                    <a:spcPts val="0"/>
                  </a:spcBef>
                  <a:buSzPts val="2800"/>
                  <a:buNone/>
                </a:pPr>
                <a:endParaRPr lang="en-US" altLang="zh-TW" sz="2000" dirty="0">
                  <a:solidFill>
                    <a:schemeClr val="tx1"/>
                  </a:solidFill>
                </a:endParaRPr>
              </a:p>
              <a:p>
                <a:pPr marL="0" lvl="0" indent="0">
                  <a:lnSpc>
                    <a:spcPct val="150000"/>
                  </a:lnSpc>
                  <a:spcBef>
                    <a:spcPts val="0"/>
                  </a:spcBef>
                  <a:buSzPts val="2800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TW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  <m:e>
                                <m:r>
                                  <a:rPr lang="en-US" altLang="zh-TW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  <m:e>
                                <m:r>
                                  <a:rPr lang="en-US" altLang="zh-TW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e>
                              <m:e>
                                <m:r>
                                  <a:rPr lang="en-US" altLang="zh-TW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e>
                              <m:e>
                                <m:r>
                                  <a:rPr lang="en-US" altLang="zh-TW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  <m:e>
                                <m:r>
                                  <a:rPr lang="en-US" altLang="zh-TW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TW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TW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.3</m:t>
                                </m:r>
                              </m:e>
                              <m:e>
                                <m:r>
                                  <a:rPr lang="en-US" altLang="zh-TW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0.3</m:t>
                                </m:r>
                              </m:e>
                              <m:e>
                                <m:r>
                                  <a:rPr lang="en-US" altLang="zh-TW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0.3</m:t>
                                </m:r>
                              </m:e>
                              <m:e>
                                <m:r>
                                  <a:rPr lang="en-US" altLang="zh-TW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0.3</m:t>
                                </m:r>
                              </m:e>
                              <m:e>
                                <m:r>
                                  <a:rPr lang="en-US" altLang="zh-TW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0.3</m:t>
                                </m:r>
                              </m:e>
                              <m:e>
                                <m:r>
                                  <a:rPr lang="en-US" altLang="zh-TW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0.3</m:t>
                                </m:r>
                              </m:e>
                              <m:e>
                                <m:r>
                                  <a:rPr lang="en-US" altLang="zh-TW" sz="20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0.3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TW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TW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TW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TW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  <m:e>
                                <m:r>
                                  <a:rPr lang="en-US" altLang="zh-TW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  <m:e>
                                <m:r>
                                  <a:rPr lang="en-US" altLang="zh-TW" sz="20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57</m:t>
                                </m:r>
                              </m:e>
                              <m:e>
                                <m:r>
                                  <a:rPr lang="en-US" altLang="zh-TW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30</m:t>
                                </m:r>
                              </m:e>
                              <m:e>
                                <m:r>
                                  <a:rPr lang="en-US" altLang="zh-TW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20</m:t>
                                </m:r>
                              </m:e>
                              <m:e>
                                <m:r>
                                  <a:rPr lang="en-US" altLang="zh-TW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8" name="Google Shape;108;p3">
                <a:extLst>
                  <a:ext uri="{FF2B5EF4-FFF2-40B4-BE49-F238E27FC236}">
                    <a16:creationId xmlns:a16="http://schemas.microsoft.com/office/drawing/2014/main" id="{37A524C1-36D0-9F7A-9B2A-E88357E842E8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825625"/>
                <a:ext cx="10515600" cy="4351338"/>
              </a:xfrm>
              <a:prstGeom prst="rect">
                <a:avLst/>
              </a:prstGeom>
              <a:blipFill>
                <a:blip r:embed="rId3"/>
                <a:stretch>
                  <a:fillRect l="-63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E73962C8-94E4-B8FB-ED66-0F0F4627D41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助教 陳立堯</a:t>
            </a:r>
            <a:endParaRPr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07A06EE-D4C1-449B-43FF-382D4B2209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9311" y="2596606"/>
            <a:ext cx="4239217" cy="389626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72888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C5968C37-516B-11AB-7DD1-6DCBDFCEF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06D16195-8C44-BB20-4FA2-0B10DE7A77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altLang="zh-TW" dirty="0"/>
              <a:t>Part 2. </a:t>
            </a:r>
            <a:r>
              <a:rPr lang="zh-TW" altLang="en-US" dirty="0"/>
              <a:t>高斯分布 </a:t>
            </a:r>
            <a:r>
              <a:rPr lang="en-US" altLang="zh-TW" dirty="0"/>
              <a:t>(</a:t>
            </a:r>
            <a:r>
              <a:rPr lang="zh-TW" altLang="en-US" dirty="0"/>
              <a:t>成為濾波前</a:t>
            </a:r>
            <a:r>
              <a:rPr lang="en-US" altLang="zh-TW" dirty="0"/>
              <a:t>)</a:t>
            </a:r>
            <a:endParaRPr dirty="0"/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ED607E99-8CD8-09F7-F79E-7F7B55B7C8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r>
              <a:rPr lang="zh-TW" altLang="en-US" sz="2000" dirty="0"/>
              <a:t>高斯濾波以德國數學家</a:t>
            </a:r>
            <a:r>
              <a:rPr lang="zh-TW" altLang="en-US" sz="2000" b="1" dirty="0"/>
              <a:t>卡爾</a:t>
            </a:r>
            <a:r>
              <a:rPr lang="en-US" altLang="zh-TW" sz="2000" b="1" dirty="0"/>
              <a:t>·</a:t>
            </a:r>
            <a:r>
              <a:rPr lang="zh-TW" altLang="en-US" sz="2000" b="1" dirty="0"/>
              <a:t>弗里德里希</a:t>
            </a:r>
            <a:r>
              <a:rPr lang="en-US" altLang="zh-TW" sz="2000" b="1" dirty="0"/>
              <a:t>·</a:t>
            </a:r>
            <a:r>
              <a:rPr lang="zh-TW" altLang="en-US" sz="2000" b="1" dirty="0"/>
              <a:t>高斯</a:t>
            </a:r>
            <a:r>
              <a:rPr lang="en-US" altLang="zh-TW" sz="2000" dirty="0"/>
              <a:t>(Carl Friedrich Gauss, 1777-1855)</a:t>
            </a:r>
            <a:r>
              <a:rPr lang="zh-TW" altLang="en-US" sz="2000" dirty="0"/>
              <a:t>命名，高斯在研究測量誤差和統計分佈時</a:t>
            </a:r>
            <a:r>
              <a:rPr lang="en-US" altLang="zh-TW" sz="2000" dirty="0"/>
              <a:t>,</a:t>
            </a:r>
            <a:r>
              <a:rPr lang="zh-TW" altLang="en-US" sz="2000" dirty="0"/>
              <a:t>發現了著名的高斯分佈</a:t>
            </a:r>
            <a:r>
              <a:rPr lang="en-US" altLang="zh-TW" sz="2000" dirty="0"/>
              <a:t>(</a:t>
            </a:r>
            <a:r>
              <a:rPr lang="zh-TW" altLang="en-US" sz="2000" dirty="0"/>
              <a:t>正態分佈</a:t>
            </a:r>
            <a:r>
              <a:rPr lang="en-US" altLang="zh-TW" sz="2000" dirty="0"/>
              <a:t>)</a:t>
            </a:r>
            <a:r>
              <a:rPr lang="zh-TW" altLang="en-US" sz="2000" dirty="0"/>
              <a:t>。</a:t>
            </a:r>
            <a:endParaRPr lang="en-US" altLang="zh-TW" sz="2000" dirty="0"/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endParaRPr lang="en-US" altLang="zh-TW" sz="2000" dirty="0">
              <a:solidFill>
                <a:schemeClr val="tx1"/>
              </a:solidFill>
            </a:endParaRPr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4897D3BB-6FF7-3D24-7942-50A47D91536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助教</a:t>
            </a:r>
            <a:r>
              <a:rPr lang="en-US" dirty="0"/>
              <a:t> 陳立堯</a:t>
            </a:r>
            <a:endParaRPr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2C9A144F-23F6-D674-656C-A4CD397755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409156"/>
            <a:ext cx="4985758" cy="2492879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F3787A84-97BF-47A8-0F30-FD0E8467DF04}"/>
              </a:ext>
            </a:extLst>
          </p:cNvPr>
          <p:cNvSpPr txBox="1"/>
          <p:nvPr/>
        </p:nvSpPr>
        <p:spPr>
          <a:xfrm>
            <a:off x="979053" y="5868618"/>
            <a:ext cx="57173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/>
              <a:t>https://homepage.ntu.edu.tw/~clhsieh/biostatistic/images/deviation.png</a:t>
            </a:r>
            <a:endParaRPr lang="zh-TW" altLang="en-US" sz="1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108;p3">
                <a:extLst>
                  <a:ext uri="{FF2B5EF4-FFF2-40B4-BE49-F238E27FC236}">
                    <a16:creationId xmlns:a16="http://schemas.microsoft.com/office/drawing/2014/main" id="{08797170-4BEF-D7D2-F095-9C69A6D45C2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68044" y="3315855"/>
                <a:ext cx="5138156" cy="301350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4290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4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20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42900" algn="l" rtl="0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SzPts val="2800"/>
                  <a:buFont typeface="Arial"/>
                  <a:buNone/>
                </a:pPr>
                <a:r>
                  <a:rPr lang="zh-TW" altLang="en-US" sz="2000" dirty="0"/>
                  <a:t>特性：</a:t>
                </a:r>
                <a:endParaRPr lang="en-US" altLang="zh-TW" sz="2000" dirty="0"/>
              </a:p>
              <a:p>
                <a:pPr marL="342900">
                  <a:lnSpc>
                    <a:spcPct val="150000"/>
                  </a:lnSpc>
                  <a:spcBef>
                    <a:spcPts val="0"/>
                  </a:spcBef>
                  <a:buSzPts val="2800"/>
                </a:pPr>
                <a:r>
                  <a:rPr lang="zh-TW" altLang="en-US" sz="2000" dirty="0"/>
                  <a:t>平均數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altLang="zh-TW" sz="2000" dirty="0"/>
                  <a:t>-</a:t>
                </a:r>
                <a:r>
                  <a:rPr lang="zh-TW" altLang="en-US" sz="2000" dirty="0"/>
                  <a:t> 決定分佈中心位置</a:t>
                </a:r>
                <a:endParaRPr lang="en-US" altLang="zh-TW" sz="2000" dirty="0"/>
              </a:p>
              <a:p>
                <a:pPr marL="342900">
                  <a:lnSpc>
                    <a:spcPct val="150000"/>
                  </a:lnSpc>
                  <a:spcBef>
                    <a:spcPts val="0"/>
                  </a:spcBef>
                  <a:buSzPts val="2800"/>
                </a:pPr>
                <a:r>
                  <a:rPr lang="zh-TW" altLang="en-US" sz="2000" dirty="0"/>
                  <a:t>標準差</a:t>
                </a:r>
                <a:r>
                  <a:rPr lang="el-GR" altLang="zh-TW" sz="2000" dirty="0"/>
                  <a:t>σ</a:t>
                </a:r>
                <a:r>
                  <a:rPr lang="en-US" altLang="zh-TW" sz="2000" dirty="0"/>
                  <a:t> – </a:t>
                </a:r>
                <a:r>
                  <a:rPr lang="zh-TW" altLang="en-US" sz="2000" dirty="0"/>
                  <a:t>決定分佈寬度、形狀</a:t>
                </a:r>
                <a:endParaRPr lang="en-US" altLang="zh-TW" sz="2000" dirty="0"/>
              </a:p>
              <a:p>
                <a:pPr marL="0" indent="0">
                  <a:lnSpc>
                    <a:spcPct val="150000"/>
                  </a:lnSpc>
                  <a:spcBef>
                    <a:spcPts val="0"/>
                  </a:spcBef>
                  <a:buSzPts val="2800"/>
                  <a:buFont typeface="Arial"/>
                  <a:buNone/>
                </a:pPr>
                <a:endParaRPr lang="en-US" altLang="zh-TW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Google Shape;108;p3">
                <a:extLst>
                  <a:ext uri="{FF2B5EF4-FFF2-40B4-BE49-F238E27FC236}">
                    <a16:creationId xmlns:a16="http://schemas.microsoft.com/office/drawing/2014/main" id="{08797170-4BEF-D7D2-F095-9C69A6D45C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8044" y="3315855"/>
                <a:ext cx="5138156" cy="3013508"/>
              </a:xfrm>
              <a:prstGeom prst="rect">
                <a:avLst/>
              </a:prstGeom>
              <a:blipFill>
                <a:blip r:embed="rId4"/>
                <a:stretch>
                  <a:fillRect l="-213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圖片 6">
            <a:extLst>
              <a:ext uri="{FF2B5EF4-FFF2-40B4-BE49-F238E27FC236}">
                <a16:creationId xmlns:a16="http://schemas.microsoft.com/office/drawing/2014/main" id="{90945778-4D45-09DD-8765-960C240CAA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7122" y="646755"/>
            <a:ext cx="2143424" cy="7240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01950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FC1A2F1C-54AC-C9AF-5FA5-81EF4902B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196912A4-31FD-62C7-75E5-042CF853B1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altLang="zh-TW" dirty="0"/>
              <a:t>Part 2. </a:t>
            </a:r>
            <a:r>
              <a:rPr lang="zh-TW" altLang="en-US" dirty="0"/>
              <a:t>高斯濾波</a:t>
            </a:r>
            <a:endParaRPr dirty="0"/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829AB703-8B63-7BB7-8217-0D998C6442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r>
              <a:rPr lang="zh-TW" altLang="en-US" sz="2000" dirty="0">
                <a:solidFill>
                  <a:schemeClr val="tx1"/>
                </a:solidFill>
              </a:rPr>
              <a:t>也是一種平滑濾波方法，可以去除影像中的雜訊，同時保留邊緣的柔和過度。</a:t>
            </a:r>
            <a:endParaRPr lang="en-US" altLang="zh-TW" sz="2000" dirty="0">
              <a:solidFill>
                <a:schemeClr val="tx1"/>
              </a:solidFill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endParaRPr lang="en-US" altLang="zh-TW" sz="2000" dirty="0">
              <a:solidFill>
                <a:schemeClr val="tx1"/>
              </a:solidFill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r>
              <a:rPr lang="zh-TW" altLang="en-US" sz="2000" dirty="0">
                <a:solidFill>
                  <a:schemeClr val="tx1"/>
                </a:solidFill>
              </a:rPr>
              <a:t>二維公式：</a:t>
            </a:r>
            <a:endParaRPr lang="en-US" altLang="zh-TW" sz="2000" dirty="0">
              <a:solidFill>
                <a:schemeClr val="tx1"/>
              </a:solidFill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endParaRPr lang="en-US" altLang="zh-TW" sz="2000" dirty="0">
              <a:solidFill>
                <a:schemeClr val="tx1"/>
              </a:solidFill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endParaRPr lang="en-US" altLang="zh-TW" sz="2000" dirty="0">
              <a:solidFill>
                <a:schemeClr val="tx1"/>
              </a:solidFill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endParaRPr lang="en-US" altLang="zh-TW" sz="2000" dirty="0">
              <a:solidFill>
                <a:schemeClr val="tx1"/>
              </a:solidFill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r>
              <a:rPr lang="zh-TW" altLang="en-US" sz="2000" dirty="0">
                <a:solidFill>
                  <a:schemeClr val="tx1"/>
                </a:solidFill>
              </a:rPr>
              <a:t>其中　　　　是歸一化係數，確保總能量</a:t>
            </a:r>
            <a:r>
              <a:rPr lang="en-US" altLang="zh-TW" sz="2000" dirty="0">
                <a:solidFill>
                  <a:schemeClr val="tx1"/>
                </a:solidFill>
              </a:rPr>
              <a:t>=1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r>
              <a:rPr lang="zh-TW" altLang="en-US" sz="2000" dirty="0">
                <a:solidFill>
                  <a:schemeClr val="tx1"/>
                </a:solidFill>
              </a:rPr>
              <a:t>而　　　　是權重衰減項，離中心越遠，值會急遽下降</a:t>
            </a:r>
            <a:endParaRPr lang="en-US" altLang="zh-TW" sz="2000" dirty="0">
              <a:solidFill>
                <a:schemeClr val="tx1"/>
              </a:solidFill>
            </a:endParaRPr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A07F5778-E292-C811-7A79-24CCE6422B7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助教</a:t>
            </a:r>
            <a:r>
              <a:rPr lang="en-US" dirty="0"/>
              <a:t> 陳立堯</a:t>
            </a:r>
            <a:endParaRPr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204BA38-4BF7-A262-9309-50A06124D6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429000"/>
            <a:ext cx="2653145" cy="93939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5C04B18-00ED-0713-2474-DB53B37AA4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4140" y="4368390"/>
            <a:ext cx="590632" cy="733527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E74219A4-F19E-1ABC-1205-571FD855A5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7325" y="5141172"/>
            <a:ext cx="809738" cy="438211"/>
          </a:xfrm>
          <a:prstGeom prst="rect">
            <a:avLst/>
          </a:prstGeom>
        </p:spPr>
      </p:pic>
      <p:pic>
        <p:nvPicPr>
          <p:cNvPr id="2050" name="Picture 2" descr="如何确定高斯滤波的标准差和窗口大小- shine-lee - 博客园">
            <a:extLst>
              <a:ext uri="{FF2B5EF4-FFF2-40B4-BE49-F238E27FC236}">
                <a16:creationId xmlns:a16="http://schemas.microsoft.com/office/drawing/2014/main" id="{352C9F6F-B797-6308-7D2F-8F31376820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03"/>
          <a:stretch>
            <a:fillRect/>
          </a:stretch>
        </p:blipFill>
        <p:spPr bwMode="auto">
          <a:xfrm>
            <a:off x="7470937" y="3533372"/>
            <a:ext cx="4501103" cy="2924202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如何确定高斯滤波的标准差和窗口大小- shine-lee - 博客园">
            <a:extLst>
              <a:ext uri="{FF2B5EF4-FFF2-40B4-BE49-F238E27FC236}">
                <a16:creationId xmlns:a16="http://schemas.microsoft.com/office/drawing/2014/main" id="{6B90B4C9-F518-FF29-7162-5C516260F2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270"/>
          <a:stretch>
            <a:fillRect/>
          </a:stretch>
        </p:blipFill>
        <p:spPr bwMode="auto">
          <a:xfrm>
            <a:off x="9379180" y="455809"/>
            <a:ext cx="2658849" cy="221191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6157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80309F11-8517-A394-8E94-A0828A7E3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4397EC83-D1B3-3B51-3730-E6E90A079C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altLang="zh-TW" dirty="0"/>
              <a:t>Part 2. </a:t>
            </a:r>
            <a:r>
              <a:rPr lang="zh-TW" altLang="en-US" dirty="0"/>
              <a:t>高斯濾波</a:t>
            </a:r>
            <a:endParaRPr dirty="0"/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7782709C-4901-6501-905F-B65F3314D3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66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r>
              <a:rPr lang="zh-TW" altLang="en-US" sz="2000" dirty="0">
                <a:solidFill>
                  <a:schemeClr val="tx1"/>
                </a:solidFill>
              </a:rPr>
              <a:t>關於</a:t>
            </a:r>
            <a:r>
              <a:rPr lang="el-GR" altLang="zh-TW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</a:t>
            </a:r>
            <a:r>
              <a:rPr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(sigma)</a:t>
            </a:r>
            <a:r>
              <a:rPr lang="zh-TW" alt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的設定</a:t>
            </a:r>
            <a:endParaRPr lang="en-US" altLang="zh-TW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endParaRPr lang="en-US" altLang="zh-TW" sz="2000" dirty="0">
              <a:solidFill>
                <a:schemeClr val="tx1"/>
              </a:solidFill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endParaRPr lang="en-US" altLang="zh-TW" sz="2000" dirty="0">
              <a:solidFill>
                <a:schemeClr val="tx1"/>
              </a:solidFill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r>
              <a:rPr lang="zh-TW" altLang="en-US" sz="2000" dirty="0">
                <a:solidFill>
                  <a:schemeClr val="tx1"/>
                </a:solidFill>
              </a:rPr>
              <a:t>當</a:t>
            </a:r>
            <a:r>
              <a:rPr lang="el-GR" altLang="zh-TW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</a:t>
            </a:r>
            <a:r>
              <a:rPr lang="en-US" altLang="zh-TW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=1</a:t>
            </a:r>
            <a:r>
              <a:rPr lang="zh-TW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時</a:t>
            </a:r>
            <a:endParaRPr lang="en-US" altLang="zh-TW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r>
              <a:rPr lang="en-US" altLang="zh-TW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(0,0) </a:t>
            </a:r>
            <a:r>
              <a:rPr lang="zh-TW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結果為</a:t>
            </a:r>
            <a:r>
              <a:rPr lang="en-US" altLang="zh-TW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r>
              <a:rPr lang="en-US" altLang="zh-TW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(1,0) </a:t>
            </a:r>
            <a:r>
              <a:rPr lang="zh-TW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約</a:t>
            </a:r>
            <a:r>
              <a:rPr lang="en-US" altLang="zh-TW" sz="2000" dirty="0"/>
              <a:t>0.6065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r>
              <a:rPr lang="en-US" altLang="zh-TW" sz="2000" dirty="0">
                <a:solidFill>
                  <a:schemeClr val="tx1"/>
                </a:solidFill>
              </a:rPr>
              <a:t>(2,0) </a:t>
            </a:r>
            <a:r>
              <a:rPr lang="zh-TW" altLang="en-US" sz="2000" dirty="0">
                <a:solidFill>
                  <a:schemeClr val="tx1"/>
                </a:solidFill>
              </a:rPr>
              <a:t>約</a:t>
            </a:r>
            <a:r>
              <a:rPr lang="en-US" altLang="zh-TW" sz="2000" dirty="0"/>
              <a:t>0.1353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r>
              <a:rPr lang="en-US" altLang="zh-TW" sz="2000" dirty="0">
                <a:solidFill>
                  <a:schemeClr val="tx1"/>
                </a:solidFill>
              </a:rPr>
              <a:t>(3,0)</a:t>
            </a:r>
            <a:r>
              <a:rPr lang="zh-TW" altLang="en-US" sz="2000" dirty="0">
                <a:solidFill>
                  <a:schemeClr val="tx1"/>
                </a:solidFill>
              </a:rPr>
              <a:t> 約</a:t>
            </a:r>
            <a:r>
              <a:rPr lang="en-US" altLang="zh-TW" sz="2000" dirty="0"/>
              <a:t>0.0111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r>
              <a:rPr lang="zh-TW" altLang="en-US" sz="2000" dirty="0">
                <a:solidFill>
                  <a:schemeClr val="tx1"/>
                </a:solidFill>
              </a:rPr>
              <a:t>越遠的像素，影響結果越小</a:t>
            </a:r>
            <a:endParaRPr lang="en-US" altLang="zh-TW" sz="1000" dirty="0">
              <a:solidFill>
                <a:schemeClr val="tx1"/>
              </a:solidFill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endParaRPr lang="en-US" altLang="zh-TW" sz="2000" dirty="0">
              <a:solidFill>
                <a:schemeClr val="tx1"/>
              </a:solidFill>
            </a:endParaRPr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C8EA3D37-BCBB-B048-BEE2-74A2E5F47A8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助教</a:t>
            </a:r>
            <a:r>
              <a:rPr lang="en-US" dirty="0"/>
              <a:t> 陳立堯</a:t>
            </a:r>
            <a:endParaRPr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529837F4-9FA6-BD57-F67E-45F31DF96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545754"/>
            <a:ext cx="1098736" cy="594610"/>
          </a:xfrm>
          <a:prstGeom prst="rect">
            <a:avLst/>
          </a:prstGeom>
        </p:spPr>
      </p:pic>
      <p:pic>
        <p:nvPicPr>
          <p:cNvPr id="3074" name="Picture 2" descr="正态分布- 维基百科，自由的百科全书">
            <a:extLst>
              <a:ext uri="{FF2B5EF4-FFF2-40B4-BE49-F238E27FC236}">
                <a16:creationId xmlns:a16="http://schemas.microsoft.com/office/drawing/2014/main" id="{5D74F40D-D7AE-A225-1223-8038C7CB3B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3501" y="1991519"/>
            <a:ext cx="5610383" cy="358724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4B1E2118-7A7C-F861-5474-927795E0D6CA}"/>
              </a:ext>
            </a:extLst>
          </p:cNvPr>
          <p:cNvSpPr txBox="1"/>
          <p:nvPr/>
        </p:nvSpPr>
        <p:spPr>
          <a:xfrm>
            <a:off x="5623501" y="5713701"/>
            <a:ext cx="58835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/>
              <a:t>https://upload.wikimedia.org/wikipedia/commons/thumb/7/74/Normal_Distribution_PDF.svg/330px-Normal_Distribution_PDF.svg.png</a:t>
            </a:r>
            <a:endParaRPr lang="zh-TW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599897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03EF7C4E-D76A-4EE7-E929-C0C638AFE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0857281E-9EB6-DBFE-3336-F53B753DB0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altLang="zh-TW" dirty="0"/>
              <a:t>Part 2. </a:t>
            </a:r>
            <a:r>
              <a:rPr lang="zh-TW" altLang="en-US" dirty="0"/>
              <a:t>高斯濾波</a:t>
            </a:r>
            <a:endParaRPr dirty="0"/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2476F82F-0E67-90F0-D4B6-85960708C2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r>
              <a:rPr lang="zh-TW" altLang="en-US" sz="2000" dirty="0">
                <a:solidFill>
                  <a:schemeClr val="tx1"/>
                </a:solidFill>
              </a:rPr>
              <a:t>關於</a:t>
            </a:r>
            <a:r>
              <a:rPr lang="el-GR" altLang="zh-TW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σ</a:t>
            </a:r>
            <a:r>
              <a:rPr lang="zh-TW" alt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(sigma)</a:t>
            </a:r>
            <a:r>
              <a:rPr lang="zh-TW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，若值越大，可以想像你的模糊強度越高。</a:t>
            </a:r>
            <a:endParaRPr lang="en-US" altLang="zh-TW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r>
              <a:rPr lang="zh-TW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這時，我們會需要調整</a:t>
            </a:r>
            <a:r>
              <a:rPr lang="en-US" altLang="zh-TW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kernel</a:t>
            </a:r>
            <a:r>
              <a:rPr lang="zh-TW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大小，去擴大模糊範圍，以適應</a:t>
            </a:r>
            <a:r>
              <a:rPr lang="en-US" altLang="zh-TW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sigma</a:t>
            </a:r>
            <a:r>
              <a:rPr lang="zh-TW" altLang="en-US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TW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(kernel = 6</a:t>
            </a:r>
            <a:r>
              <a:rPr lang="el-GR" altLang="zh-TW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σ</a:t>
            </a:r>
            <a:r>
              <a:rPr lang="en-US" altLang="zh-TW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+1</a:t>
            </a:r>
            <a:r>
              <a:rPr lang="en-US" altLang="zh-TW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endParaRPr lang="en-US" altLang="zh-TW" sz="2000" dirty="0">
              <a:solidFill>
                <a:schemeClr val="tx1"/>
              </a:solidFill>
            </a:endParaRPr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9F37BB08-9A12-F7D6-B4DE-484C79A54CF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助教</a:t>
            </a:r>
            <a:r>
              <a:rPr lang="en-US" dirty="0"/>
              <a:t> 陳立堯</a:t>
            </a:r>
            <a:endParaRPr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FA84CF1-F69C-0883-430E-4FF89B63AF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5636914"/>
              </p:ext>
            </p:extLst>
          </p:nvPr>
        </p:nvGraphicFramePr>
        <p:xfrm>
          <a:off x="838200" y="3611418"/>
          <a:ext cx="3419764" cy="2244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9882">
                  <a:extLst>
                    <a:ext uri="{9D8B030D-6E8A-4147-A177-3AD203B41FA5}">
                      <a16:colId xmlns:a16="http://schemas.microsoft.com/office/drawing/2014/main" val="123731145"/>
                    </a:ext>
                  </a:extLst>
                </a:gridCol>
                <a:gridCol w="1709882">
                  <a:extLst>
                    <a:ext uri="{9D8B030D-6E8A-4147-A177-3AD203B41FA5}">
                      <a16:colId xmlns:a16="http://schemas.microsoft.com/office/drawing/2014/main" val="2791834614"/>
                    </a:ext>
                  </a:extLst>
                </a:gridCol>
              </a:tblGrid>
              <a:tr h="448815">
                <a:tc>
                  <a:txBody>
                    <a:bodyPr/>
                    <a:lstStyle/>
                    <a:p>
                      <a:pPr algn="ctr"/>
                      <a:r>
                        <a:rPr lang="el-GR" altLang="zh-TW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σ</a:t>
                      </a:r>
                      <a:r>
                        <a:rPr lang="zh-TW" altLang="en-US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TW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(sigma)</a:t>
                      </a:r>
                      <a:endParaRPr lang="zh-TW" altLang="en-US" sz="160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建議 </a:t>
                      </a:r>
                      <a:r>
                        <a:rPr lang="en-US" altLang="zh-TW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kernel </a:t>
                      </a:r>
                      <a:r>
                        <a:rPr lang="zh-TW" altLang="en-US" sz="160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大小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1220458"/>
                  </a:ext>
                </a:extLst>
              </a:tr>
              <a:tr h="4488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0.5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3X3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4649664"/>
                  </a:ext>
                </a:extLst>
              </a:tr>
              <a:tr h="4488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7X7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59573650"/>
                  </a:ext>
                </a:extLst>
              </a:tr>
              <a:tr h="4488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13X13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6667634"/>
                  </a:ext>
                </a:extLst>
              </a:tr>
              <a:tr h="448815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31X31</a:t>
                      </a:r>
                      <a:endParaRPr lang="zh-TW" altLang="en-US" sz="160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5877771"/>
                  </a:ext>
                </a:extLst>
              </a:tr>
            </a:tbl>
          </a:graphicData>
        </a:graphic>
      </p:graphicFrame>
      <p:pic>
        <p:nvPicPr>
          <p:cNvPr id="4098" name="Picture 2">
            <a:extLst>
              <a:ext uri="{FF2B5EF4-FFF2-40B4-BE49-F238E27FC236}">
                <a16:creationId xmlns:a16="http://schemas.microsoft.com/office/drawing/2014/main" id="{A0CF859F-94FF-1AE0-E450-A0AC898867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93384" y="3658883"/>
            <a:ext cx="2216727" cy="2154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0AF0E2EF-6C35-6A6F-C66F-1F190C1FB8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8930" y="3656021"/>
            <a:ext cx="2216727" cy="2154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EE4B6D6F-3832-A8E8-488B-B0172798F6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7436" y="3656021"/>
            <a:ext cx="2216727" cy="2154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055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2EAEDBD8-AEBD-68F5-C52F-81121F26E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37CDF6BF-CEBA-8E2E-087A-6EDFA29D3B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altLang="zh-TW" dirty="0"/>
              <a:t>Part 2. </a:t>
            </a:r>
            <a:r>
              <a:rPr lang="zh-TW" altLang="en-US" dirty="0"/>
              <a:t>高斯濾波實作</a:t>
            </a:r>
            <a:endParaRPr dirty="0"/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A2C283E5-D46B-2FF7-FFEB-639F612E6D1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助教</a:t>
            </a:r>
            <a:r>
              <a:rPr lang="en-US" dirty="0"/>
              <a:t> 陳立堯</a:t>
            </a:r>
            <a:endParaRPr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90A4ABFE-3A0D-4CB5-5511-C11AFD94D5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5764" y="681037"/>
            <a:ext cx="2653145" cy="9393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29FB9E24-E7CB-90D9-8785-96DBDE82C707}"/>
              </a:ext>
            </a:extLst>
          </p:cNvPr>
          <p:cNvSpPr txBox="1"/>
          <p:nvPr/>
        </p:nvSpPr>
        <p:spPr>
          <a:xfrm>
            <a:off x="930564" y="1916131"/>
            <a:ext cx="8472054" cy="39433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gaussian_size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zh-TW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zh-TW" alt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#</a:t>
            </a:r>
            <a:r>
              <a:rPr lang="zh-TW" alt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設定</a:t>
            </a:r>
            <a:r>
              <a:rPr lang="en-US" altLang="zh-TW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kernel</a:t>
            </a:r>
            <a:r>
              <a:rPr lang="zh-TW" alt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大小</a:t>
            </a:r>
            <a:endParaRPr lang="en-US" altLang="zh-TW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sigma = </a:t>
            </a:r>
            <a:r>
              <a:rPr lang="en-US" altLang="zh-TW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1.0</a:t>
            </a:r>
            <a:endParaRPr lang="en-US" altLang="zh-TW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gaussian_kernel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np.zeros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((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gaussian_size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gaussian_size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center = 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gaussian_size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// </a:t>
            </a:r>
            <a:r>
              <a:rPr lang="en-US" altLang="zh-TW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zh-TW" altLang="en-US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dirty="0">
                <a:solidFill>
                  <a:srgbClr val="116644"/>
                </a:solidFill>
                <a:latin typeface="Courier New" panose="02070309020205020404" pitchFamily="49" charset="0"/>
              </a:rPr>
              <a:t>#</a:t>
            </a:r>
            <a:r>
              <a:rPr lang="zh-TW" altLang="en-US" dirty="0">
                <a:solidFill>
                  <a:srgbClr val="116644"/>
                </a:solidFill>
                <a:latin typeface="Courier New" panose="02070309020205020404" pitchFamily="49" charset="0"/>
              </a:rPr>
              <a:t>對準</a:t>
            </a:r>
            <a:r>
              <a:rPr lang="en-US" altLang="zh-TW" dirty="0">
                <a:solidFill>
                  <a:srgbClr val="116644"/>
                </a:solidFill>
                <a:latin typeface="Courier New" panose="02070309020205020404" pitchFamily="49" charset="0"/>
              </a:rPr>
              <a:t>kernel</a:t>
            </a:r>
            <a:r>
              <a:rPr lang="zh-TW" altLang="en-US" dirty="0">
                <a:solidFill>
                  <a:srgbClr val="116644"/>
                </a:solidFill>
                <a:latin typeface="Courier New" panose="02070309020205020404" pitchFamily="49" charset="0"/>
              </a:rPr>
              <a:t>中心值</a:t>
            </a:r>
            <a:endParaRPr lang="en-US" altLang="zh-TW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zh-TW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TW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range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gaussian_size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):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altLang="zh-TW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j </a:t>
            </a:r>
            <a:r>
              <a:rPr lang="en-US" altLang="zh-TW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range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gaussian_size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):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x = 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– center</a:t>
            </a:r>
            <a:r>
              <a:rPr lang="zh-TW" alt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#</a:t>
            </a:r>
            <a:r>
              <a:rPr lang="zh-TW" alt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計算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</a:t>
            </a:r>
            <a:r>
              <a:rPr lang="zh-TW" alt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方向權重</a:t>
            </a:r>
            <a:endParaRPr lang="en-US" altLang="zh-TW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y = j – center</a:t>
            </a:r>
            <a:r>
              <a:rPr lang="zh-TW" alt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#</a:t>
            </a:r>
            <a:r>
              <a:rPr lang="zh-TW" alt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計算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</a:t>
            </a:r>
            <a:r>
              <a:rPr lang="zh-TW" alt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方向權重</a:t>
            </a:r>
            <a:endParaRPr lang="en-US" altLang="zh-TW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    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gaussian_kernel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j] = 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np.exp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(-(x**</a:t>
            </a:r>
            <a:r>
              <a:rPr lang="en-US" altLang="zh-TW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+ y**</a:t>
            </a:r>
            <a:r>
              <a:rPr lang="en-US" altLang="zh-TW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/ (</a:t>
            </a:r>
            <a:r>
              <a:rPr lang="en-US" altLang="zh-TW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* sigma**</a:t>
            </a:r>
            <a:r>
              <a:rPr lang="en-US" altLang="zh-TW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  <a:r>
              <a:rPr lang="zh-TW" alt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#</a:t>
            </a:r>
            <a:r>
              <a:rPr lang="zh-TW" alt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加權</a:t>
            </a:r>
            <a:endParaRPr lang="en-US" altLang="zh-TW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gaussian_kernel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gaussian_kernel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/ 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</a:t>
            </a:r>
            <a:r>
              <a:rPr lang="en-US" altLang="zh-TW" b="0" dirty="0" err="1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sum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gaussian_kernel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TW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gaussian_kernel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454813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38586089-76FC-6A24-1C13-B3EA659F6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>
            <a:extLst>
              <a:ext uri="{FF2B5EF4-FFF2-40B4-BE49-F238E27FC236}">
                <a16:creationId xmlns:a16="http://schemas.microsoft.com/office/drawing/2014/main" id="{378B953D-AD7C-621F-C7A3-648AE218BDA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0" y="1543704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zh-TW" altLang="en-US" dirty="0"/>
              <a:t>平滑濾波器 </a:t>
            </a:r>
            <a:r>
              <a:rPr lang="en-US" altLang="zh-TW" dirty="0"/>
              <a:t>(</a:t>
            </a:r>
            <a:r>
              <a:rPr lang="zh-TW" altLang="en-US" dirty="0"/>
              <a:t>非線性</a:t>
            </a:r>
            <a:r>
              <a:rPr lang="en-US" altLang="zh-TW" dirty="0"/>
              <a:t>)</a:t>
            </a:r>
            <a:endParaRPr dirty="0"/>
          </a:p>
        </p:txBody>
      </p:sp>
      <p:sp>
        <p:nvSpPr>
          <p:cNvPr id="90" name="Google Shape;90;p1">
            <a:extLst>
              <a:ext uri="{FF2B5EF4-FFF2-40B4-BE49-F238E27FC236}">
                <a16:creationId xmlns:a16="http://schemas.microsoft.com/office/drawing/2014/main" id="{3587DE59-2B8E-903E-B9D5-6830F6916C2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助教 陳立堯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7304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2D4E453F-7A44-15A4-0DDC-1C72AC57E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1AFF3315-2523-37B8-7D3C-27EA2CF707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altLang="zh-TW" dirty="0"/>
              <a:t>Part 3. </a:t>
            </a:r>
            <a:r>
              <a:rPr lang="zh-TW" altLang="en-US" dirty="0"/>
              <a:t>中值濾波</a:t>
            </a:r>
            <a:endParaRPr dirty="0"/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E4D62EA4-235F-5A37-958C-108D4D01E3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r>
              <a:rPr lang="zh-TW" altLang="en-US" sz="2000" dirty="0"/>
              <a:t>中值濾波是一種</a:t>
            </a:r>
            <a:r>
              <a:rPr lang="zh-TW" altLang="en-US" sz="2000" b="1" dirty="0"/>
              <a:t>非線性</a:t>
            </a:r>
            <a:r>
              <a:rPr lang="zh-TW" altLang="en-US" sz="2000" dirty="0"/>
              <a:t>的濾波方法，它將每個像素的值替換為</a:t>
            </a:r>
            <a:r>
              <a:rPr lang="zh-TW" altLang="en-US" sz="2000" b="1" dirty="0"/>
              <a:t>其鄰域內所有像素值的中位數</a:t>
            </a:r>
            <a:r>
              <a:rPr lang="zh-TW" altLang="en-US" sz="2000" dirty="0"/>
              <a:t>。</a:t>
            </a:r>
            <a:endParaRPr lang="en-US" altLang="zh-TW" sz="2000" dirty="0"/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r>
              <a:rPr lang="zh-TW" altLang="en-US" sz="2000" dirty="0">
                <a:solidFill>
                  <a:schemeClr val="tx1"/>
                </a:solidFill>
              </a:rPr>
              <a:t>他很適合去除</a:t>
            </a:r>
            <a:r>
              <a:rPr lang="zh-TW" altLang="en-US" sz="2000" b="1" dirty="0">
                <a:solidFill>
                  <a:schemeClr val="tx1"/>
                </a:solidFill>
              </a:rPr>
              <a:t>椒鹽雜訊</a:t>
            </a:r>
            <a:r>
              <a:rPr lang="zh-TW" altLang="en-US" sz="2000" dirty="0"/>
              <a:t>（</a:t>
            </a:r>
            <a:r>
              <a:rPr lang="en-US" altLang="zh-TW" sz="2000" dirty="0"/>
              <a:t>Salt and Pepper Noise</a:t>
            </a:r>
            <a:r>
              <a:rPr lang="zh-TW" altLang="en-US" sz="2000" dirty="0"/>
              <a:t>）</a:t>
            </a:r>
            <a:endParaRPr lang="en-US" altLang="zh-TW" sz="2000" dirty="0">
              <a:solidFill>
                <a:schemeClr val="tx1"/>
              </a:solidFill>
            </a:endParaRPr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8D6D3B39-C60E-6FF3-D4E3-78A894A6BCD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助教</a:t>
            </a:r>
            <a:r>
              <a:rPr lang="en-US" dirty="0"/>
              <a:t> 陳立堯</a:t>
            </a:r>
            <a:endParaRPr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1CAB107-F02D-159F-E8E7-1977AF03D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243359"/>
            <a:ext cx="1864190" cy="99613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1A8F6B46-F237-9E14-C3D9-BDE0C30ABB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4739651"/>
            <a:ext cx="1864189" cy="108744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C56DC613-CED3-AD28-A4AA-D8663AE1A2DB}"/>
              </a:ext>
            </a:extLst>
          </p:cNvPr>
          <p:cNvSpPr txBox="1"/>
          <p:nvPr/>
        </p:nvSpPr>
        <p:spPr>
          <a:xfrm>
            <a:off x="2964872" y="3592945"/>
            <a:ext cx="59205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Sort </a:t>
            </a:r>
            <a:r>
              <a:rPr lang="zh-TW" altLang="en-US" dirty="0"/>
              <a:t>：</a:t>
            </a:r>
            <a:r>
              <a:rPr lang="en-US" altLang="zh-TW" dirty="0"/>
              <a:t>100, 100, 100 , 100, </a:t>
            </a:r>
            <a:r>
              <a:rPr lang="en-US" altLang="zh-TW" dirty="0">
                <a:solidFill>
                  <a:srgbClr val="FF0000"/>
                </a:solidFill>
              </a:rPr>
              <a:t>100 </a:t>
            </a:r>
            <a:r>
              <a:rPr lang="en-US" altLang="zh-TW" dirty="0"/>
              <a:t>, 100, 100 , 100, 255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77D983A-2E39-0163-F5F8-AEA0DE74D85D}"/>
              </a:ext>
            </a:extLst>
          </p:cNvPr>
          <p:cNvSpPr txBox="1"/>
          <p:nvPr/>
        </p:nvSpPr>
        <p:spPr>
          <a:xfrm>
            <a:off x="2964872" y="5129483"/>
            <a:ext cx="59205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Sort </a:t>
            </a:r>
            <a:r>
              <a:rPr lang="zh-TW" altLang="en-US" dirty="0"/>
              <a:t>：</a:t>
            </a:r>
            <a:r>
              <a:rPr lang="en-US" altLang="zh-TW" dirty="0"/>
              <a:t>0, 50, 50 , 50, </a:t>
            </a:r>
            <a:r>
              <a:rPr lang="en-US" altLang="zh-TW" dirty="0">
                <a:solidFill>
                  <a:srgbClr val="FF0000"/>
                </a:solidFill>
              </a:rPr>
              <a:t>50 </a:t>
            </a:r>
            <a:r>
              <a:rPr lang="en-US" altLang="zh-TW" dirty="0"/>
              <a:t>, 100, 100 , 100, 100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067322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E9B18292-584C-2CEF-B6AA-44A17F546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58BCA00B-7760-04D3-B67D-2EDA32D513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altLang="zh-TW" dirty="0"/>
              <a:t>Part 3. </a:t>
            </a:r>
            <a:r>
              <a:rPr lang="zh-TW" altLang="en-US" dirty="0"/>
              <a:t>中值濾波</a:t>
            </a:r>
            <a:endParaRPr dirty="0"/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52E6C4C6-CDFE-EA8A-DA4C-0E0131A091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r>
              <a:rPr lang="zh-TW" altLang="en-US" sz="2000" dirty="0"/>
              <a:t>中值濾波是一種</a:t>
            </a:r>
            <a:r>
              <a:rPr lang="zh-TW" altLang="en-US" sz="2000" b="1" dirty="0"/>
              <a:t>非線性</a:t>
            </a:r>
            <a:r>
              <a:rPr lang="zh-TW" altLang="en-US" sz="2000" dirty="0"/>
              <a:t>的濾波方法，它將每個像素的值替換為</a:t>
            </a:r>
            <a:r>
              <a:rPr lang="zh-TW" altLang="en-US" sz="2000" b="1" dirty="0"/>
              <a:t>其鄰域內所有像素值的中位數</a:t>
            </a:r>
            <a:r>
              <a:rPr lang="zh-TW" altLang="en-US" sz="2000" dirty="0"/>
              <a:t>。</a:t>
            </a:r>
            <a:endParaRPr lang="en-US" altLang="zh-TW" sz="2000" dirty="0"/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r>
              <a:rPr lang="zh-TW" altLang="en-US" sz="2000" dirty="0">
                <a:solidFill>
                  <a:schemeClr val="tx1"/>
                </a:solidFill>
              </a:rPr>
              <a:t>他很適合去除</a:t>
            </a:r>
            <a:r>
              <a:rPr lang="zh-TW" altLang="en-US" sz="2000" b="1" dirty="0">
                <a:solidFill>
                  <a:schemeClr val="tx1"/>
                </a:solidFill>
              </a:rPr>
              <a:t>椒鹽雜訊</a:t>
            </a:r>
            <a:r>
              <a:rPr lang="zh-TW" altLang="en-US" sz="2000" dirty="0"/>
              <a:t>（</a:t>
            </a:r>
            <a:r>
              <a:rPr lang="en-US" altLang="zh-TW" sz="2000" dirty="0"/>
              <a:t>Salt and Pepper Noise</a:t>
            </a:r>
            <a:r>
              <a:rPr lang="zh-TW" altLang="en-US" sz="2000" dirty="0"/>
              <a:t>）</a:t>
            </a:r>
            <a:endParaRPr lang="en-US" altLang="zh-TW" sz="2000" dirty="0">
              <a:solidFill>
                <a:schemeClr val="tx1"/>
              </a:solidFill>
            </a:endParaRPr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2C1C71FF-08FD-0237-F7BC-ABCA48CB001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助教</a:t>
            </a:r>
            <a:r>
              <a:rPr lang="en-US" dirty="0"/>
              <a:t> 陳立堯</a:t>
            </a:r>
            <a:endParaRPr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8FB66B7-D509-FC51-C8CE-1AB10EA70F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055" y="3083085"/>
            <a:ext cx="3405492" cy="309387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DDA8458A-6B3E-ACF7-729B-421BB9DD7D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6027" y="3149896"/>
            <a:ext cx="3161437" cy="296025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箭號: 向右 9">
            <a:extLst>
              <a:ext uri="{FF2B5EF4-FFF2-40B4-BE49-F238E27FC236}">
                <a16:creationId xmlns:a16="http://schemas.microsoft.com/office/drawing/2014/main" id="{398221B0-21E8-B2F1-6A6E-3E0C47B0E368}"/>
              </a:ext>
            </a:extLst>
          </p:cNvPr>
          <p:cNvSpPr/>
          <p:nvPr/>
        </p:nvSpPr>
        <p:spPr>
          <a:xfrm>
            <a:off x="5366327" y="4630023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0ADBD98-8AF7-8465-0BD0-BDEF21BFB325}"/>
              </a:ext>
            </a:extLst>
          </p:cNvPr>
          <p:cNvSpPr txBox="1"/>
          <p:nvPr/>
        </p:nvSpPr>
        <p:spPr>
          <a:xfrm>
            <a:off x="5606473" y="365125"/>
            <a:ext cx="6096000" cy="10348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roi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padded_image4[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i:i+median_size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j:j+median_size]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TW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zh-TW" alt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取鄰域的中值</a:t>
            </a:r>
            <a:endParaRPr lang="zh-TW" alt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median_output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j] = 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np.median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roi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904333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6255450F-7F70-3ACF-A027-F17C48E82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749555D3-A57A-0570-45C8-4E9B6F529A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 altLang="en-US" dirty="0"/>
              <a:t>本日作業 </a:t>
            </a:r>
            <a:r>
              <a:rPr lang="en-US" altLang="zh-TW" dirty="0"/>
              <a:t>(</a:t>
            </a:r>
            <a:r>
              <a:rPr lang="zh-TW" altLang="en-US" dirty="0"/>
              <a:t>第一周</a:t>
            </a:r>
            <a:r>
              <a:rPr lang="en-US" altLang="zh-TW" dirty="0"/>
              <a:t>)</a:t>
            </a:r>
            <a:endParaRPr dirty="0"/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6FDB9305-1DF8-5598-C9B0-440CB9A656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zh-TW" altLang="en-US" dirty="0"/>
              <a:t>使用兩張圖 </a:t>
            </a:r>
            <a:r>
              <a:rPr lang="en-US" altLang="zh-TW" dirty="0"/>
              <a:t>1. GaussianLenna.png      2. SaltPaperLenna.png</a:t>
            </a:r>
          </a:p>
          <a:p>
            <a:pPr marL="114300" indent="0">
              <a:buNone/>
            </a:pPr>
            <a:r>
              <a:rPr lang="zh-TW" altLang="en-US" dirty="0"/>
              <a:t>練習：均值濾波、高斯濾波、中值濾波</a:t>
            </a:r>
            <a:endParaRPr lang="en-US" altLang="zh-TW" dirty="0"/>
          </a:p>
          <a:p>
            <a:pPr marL="114300" indent="0">
              <a:buNone/>
            </a:pPr>
            <a:endParaRPr lang="en-US" altLang="zh-TW" dirty="0"/>
          </a:p>
          <a:p>
            <a:pPr marL="114300" indent="0">
              <a:buNone/>
            </a:pPr>
            <a:r>
              <a:rPr lang="zh-TW" altLang="en-US" dirty="0"/>
              <a:t>程式已知</a:t>
            </a:r>
            <a:r>
              <a:rPr lang="en-US" altLang="zh-TW" dirty="0"/>
              <a:t>kernel</a:t>
            </a:r>
            <a:r>
              <a:rPr lang="zh-TW" altLang="en-US" dirty="0"/>
              <a:t>，請操作剩下捲積 </a:t>
            </a:r>
            <a:r>
              <a:rPr lang="en-US" altLang="zh-TW" dirty="0"/>
              <a:t>(</a:t>
            </a:r>
            <a:r>
              <a:rPr lang="zh-TW" altLang="en-US" dirty="0"/>
              <a:t>忘記的話附錄有</a:t>
            </a:r>
            <a:r>
              <a:rPr lang="en-US" altLang="zh-TW" dirty="0"/>
              <a:t>)</a:t>
            </a:r>
          </a:p>
          <a:p>
            <a:pPr marL="114300" indent="0">
              <a:buNone/>
            </a:pPr>
            <a:r>
              <a:rPr lang="zh-TW" altLang="en-US" dirty="0"/>
              <a:t>結果六張圖</a:t>
            </a:r>
            <a:r>
              <a:rPr lang="en-US" altLang="zh-TW" dirty="0"/>
              <a:t>(</a:t>
            </a:r>
            <a:r>
              <a:rPr lang="zh-TW" altLang="en-US" dirty="0"/>
              <a:t>圖*</a:t>
            </a:r>
            <a:r>
              <a:rPr lang="en-US" altLang="zh-TW" dirty="0"/>
              <a:t>2*3</a:t>
            </a:r>
            <a:r>
              <a:rPr lang="zh-TW" altLang="en-US" dirty="0"/>
              <a:t>種方法</a:t>
            </a:r>
            <a:r>
              <a:rPr lang="en-US" altLang="zh-TW" dirty="0"/>
              <a:t>)</a:t>
            </a:r>
            <a:r>
              <a:rPr lang="zh-TW" altLang="en-US" dirty="0"/>
              <a:t>放在</a:t>
            </a:r>
            <a:r>
              <a:rPr lang="en-US" altLang="zh-TW" dirty="0"/>
              <a:t>PPT</a:t>
            </a:r>
            <a:r>
              <a:rPr lang="zh-TW" altLang="en-US" dirty="0"/>
              <a:t>，簡單說一下發現</a:t>
            </a:r>
            <a:endParaRPr lang="en-US" altLang="zh-TW" dirty="0"/>
          </a:p>
          <a:p>
            <a:pPr marL="114300" indent="0">
              <a:buNone/>
            </a:pPr>
            <a:r>
              <a:rPr lang="zh-TW" altLang="en-US" dirty="0"/>
              <a:t>繳交格式</a:t>
            </a:r>
            <a:r>
              <a:rPr lang="en-US" altLang="zh-TW" b="1" dirty="0">
                <a:solidFill>
                  <a:srgbClr val="FF0000"/>
                </a:solidFill>
              </a:rPr>
              <a:t>PPT or PDF</a:t>
            </a:r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9659F251-2D2B-1C21-6AA5-3915AA22604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助教</a:t>
            </a:r>
            <a:r>
              <a:rPr lang="en-US" dirty="0"/>
              <a:t> 陳立堯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215765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47EB247C-5BD2-0C94-7291-4EB86D654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1B699FC2-8F39-CAE7-83B1-8AA06B7986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altLang="zh-TW" dirty="0"/>
              <a:t>Part 3. </a:t>
            </a:r>
            <a:r>
              <a:rPr lang="zh-TW" altLang="en-US" dirty="0"/>
              <a:t>雙邊濾波</a:t>
            </a:r>
            <a:endParaRPr dirty="0"/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A44A351B-668C-FD09-1C4C-A6DF6FE174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r>
              <a:rPr lang="zh-TW" altLang="en-US" sz="2000" dirty="0">
                <a:solidFill>
                  <a:schemeClr val="tx1"/>
                </a:solidFill>
              </a:rPr>
              <a:t>雙邊濾波是採用加權平均方法，是基於高斯分布的加權。雙邊濾波器考慮了歐式距離、像素間的輻射差異</a:t>
            </a:r>
            <a:r>
              <a:rPr lang="en-US" altLang="zh-TW" sz="2000" dirty="0">
                <a:solidFill>
                  <a:schemeClr val="tx1"/>
                </a:solidFill>
              </a:rPr>
              <a:t>(</a:t>
            </a:r>
            <a:r>
              <a:rPr lang="zh-TW" altLang="en-US" sz="2000" dirty="0">
                <a:solidFill>
                  <a:schemeClr val="tx1"/>
                </a:solidFill>
              </a:rPr>
              <a:t>相似程度、顏色強度、深度距離等</a:t>
            </a:r>
            <a:r>
              <a:rPr lang="en-US" altLang="zh-TW" sz="2000" dirty="0">
                <a:solidFill>
                  <a:schemeClr val="tx1"/>
                </a:solidFill>
              </a:rPr>
              <a:t>)</a:t>
            </a:r>
            <a:r>
              <a:rPr lang="zh-TW" altLang="en-US" sz="2000" dirty="0">
                <a:solidFill>
                  <a:schemeClr val="tx1"/>
                </a:solidFill>
              </a:rPr>
              <a:t>。在算中心像素值的時候，會考慮這兩個權重。</a:t>
            </a:r>
            <a:endParaRPr lang="en-US" altLang="zh-TW" sz="2000" dirty="0">
              <a:solidFill>
                <a:schemeClr val="tx1"/>
              </a:solidFill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r>
              <a:rPr lang="zh-TW" altLang="en-US" sz="2000" dirty="0">
                <a:solidFill>
                  <a:schemeClr val="tx1"/>
                </a:solidFill>
              </a:rPr>
              <a:t>也可以說，他會同時考慮距離和顏色。</a:t>
            </a:r>
            <a:endParaRPr lang="en-US" altLang="zh-TW" sz="2000" dirty="0">
              <a:solidFill>
                <a:schemeClr val="tx1"/>
              </a:solidFill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r>
              <a:rPr lang="zh-TW" altLang="en-US" sz="2000" dirty="0">
                <a:solidFill>
                  <a:schemeClr val="tx1"/>
                </a:solidFill>
              </a:rPr>
              <a:t>比起高斯濾波，他有時更能夠保留模糊後的邊緣</a:t>
            </a:r>
            <a:endParaRPr lang="en-US" altLang="zh-TW" sz="2000" dirty="0">
              <a:solidFill>
                <a:schemeClr val="tx1"/>
              </a:solidFill>
            </a:endParaRPr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A5737AB1-35E6-D7CA-5D06-B739A3F3685A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助教</a:t>
            </a:r>
            <a:r>
              <a:rPr lang="en-US" dirty="0"/>
              <a:t> 陳立堯</a:t>
            </a:r>
            <a:endParaRPr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814C462-07A4-F811-E468-37B4F0276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288277"/>
            <a:ext cx="6737176" cy="174364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D85050E3-35ED-8D8E-B7BC-EB3D9899D147}"/>
              </a:ext>
            </a:extLst>
          </p:cNvPr>
          <p:cNvSpPr txBox="1"/>
          <p:nvPr/>
        </p:nvSpPr>
        <p:spPr>
          <a:xfrm>
            <a:off x="7575376" y="4288277"/>
            <a:ext cx="21613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dirty="0" err="1"/>
              <a:t>Ipbf</a:t>
            </a:r>
            <a:r>
              <a:rPr lang="en-US" altLang="zh-TW" dirty="0"/>
              <a:t> : </a:t>
            </a:r>
            <a:r>
              <a:rPr lang="zh-TW" altLang="en-US" dirty="0"/>
              <a:t>濾波後圖像</a:t>
            </a:r>
            <a:endParaRPr lang="en-US" altLang="zh-TW" dirty="0"/>
          </a:p>
          <a:p>
            <a:pPr>
              <a:lnSpc>
                <a:spcPct val="150000"/>
              </a:lnSpc>
            </a:pPr>
            <a:r>
              <a:rPr lang="en-US" altLang="zh-TW" dirty="0" err="1"/>
              <a:t>Iq</a:t>
            </a:r>
            <a:r>
              <a:rPr lang="zh-TW" altLang="en-US" dirty="0"/>
              <a:t> </a:t>
            </a:r>
            <a:r>
              <a:rPr lang="en-US" altLang="zh-TW" dirty="0"/>
              <a:t>:</a:t>
            </a:r>
            <a:r>
              <a:rPr lang="zh-TW" altLang="en-US" dirty="0"/>
              <a:t> 輸入圖像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32FF72D-F391-BB7E-D366-A5F3E91E0826}"/>
              </a:ext>
            </a:extLst>
          </p:cNvPr>
          <p:cNvSpPr txBox="1"/>
          <p:nvPr/>
        </p:nvSpPr>
        <p:spPr>
          <a:xfrm>
            <a:off x="766618" y="6088196"/>
            <a:ext cx="45627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dirty="0"/>
              <a:t>https://blog.csdn.net/piaoxuezhong/article/details/78302920</a:t>
            </a:r>
            <a:endParaRPr lang="zh-TW" altLang="en-US" sz="1000" dirty="0"/>
          </a:p>
        </p:txBody>
      </p: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F58C9D52-851D-112C-26E0-2E46CDE30FC6}"/>
              </a:ext>
            </a:extLst>
          </p:cNvPr>
          <p:cNvCxnSpPr/>
          <p:nvPr/>
        </p:nvCxnSpPr>
        <p:spPr>
          <a:xfrm>
            <a:off x="3445164" y="4756727"/>
            <a:ext cx="3048000" cy="0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75769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D67C32F6-3AA6-A829-2531-D340F1746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B9F60296-BD08-10A3-4D40-CB8D723285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altLang="zh-TW" dirty="0"/>
              <a:t>Part 3. </a:t>
            </a:r>
            <a:r>
              <a:rPr lang="zh-TW" altLang="en-US" dirty="0"/>
              <a:t>雙邊濾波</a:t>
            </a:r>
            <a:endParaRPr dirty="0"/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160F8CD2-EF45-0219-A74F-C44755A6603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助教</a:t>
            </a:r>
            <a:r>
              <a:rPr lang="en-US" dirty="0"/>
              <a:t> 陳立堯</a:t>
            </a:r>
            <a:endParaRPr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AAF0D39A-3B6D-E571-A868-FD04E4182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9237" y="2149277"/>
            <a:ext cx="6782747" cy="348663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405681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BF0A75AE-7635-3C55-CE33-EDD46420B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E3E56A1F-DF58-9506-324E-5D74D44972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altLang="zh-TW" dirty="0"/>
              <a:t>Part 3. </a:t>
            </a:r>
            <a:r>
              <a:rPr lang="zh-TW" altLang="en-US" dirty="0"/>
              <a:t>雙邊濾波</a:t>
            </a:r>
            <a:endParaRPr dirty="0"/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42626BD6-5391-4045-BD4B-73F5C6C8692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助教</a:t>
            </a:r>
            <a:r>
              <a:rPr lang="en-US" dirty="0"/>
              <a:t> 陳立堯</a:t>
            </a:r>
            <a:endParaRPr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5272544-A0D8-821B-0095-6A38DF4C3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0688"/>
            <a:ext cx="5534797" cy="9050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Google Shape;108;p3">
            <a:extLst>
              <a:ext uri="{FF2B5EF4-FFF2-40B4-BE49-F238E27FC236}">
                <a16:creationId xmlns:a16="http://schemas.microsoft.com/office/drawing/2014/main" id="{9BF2AE43-C8A8-147A-F087-A8D5037B12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2770909"/>
            <a:ext cx="10515600" cy="3396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r>
              <a:rPr lang="zh-TW" altLang="en-US" sz="2000" dirty="0">
                <a:solidFill>
                  <a:schemeClr val="tx1"/>
                </a:solidFill>
              </a:rPr>
              <a:t>展開後可以簡寫合併成上方這個公式</a:t>
            </a:r>
            <a:endParaRPr lang="en-US" altLang="zh-TW" sz="2000" dirty="0">
              <a:solidFill>
                <a:schemeClr val="tx1"/>
              </a:solidFill>
            </a:endParaRP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endParaRPr lang="en-US" altLang="zh-TW" sz="2000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DFD280-45FE-19BE-51EF-0D1C38B2F426}"/>
              </a:ext>
            </a:extLst>
          </p:cNvPr>
          <p:cNvSpPr/>
          <p:nvPr/>
        </p:nvSpPr>
        <p:spPr>
          <a:xfrm>
            <a:off x="2641600" y="1782618"/>
            <a:ext cx="1533236" cy="72967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AA2C1F0-90B5-9616-9BA5-E84A0648A7B6}"/>
              </a:ext>
            </a:extLst>
          </p:cNvPr>
          <p:cNvSpPr/>
          <p:nvPr/>
        </p:nvSpPr>
        <p:spPr>
          <a:xfrm>
            <a:off x="4221017" y="1782618"/>
            <a:ext cx="1533236" cy="72967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CCA8FC8-96DE-4964-33F4-B6F6847EE143}"/>
              </a:ext>
            </a:extLst>
          </p:cNvPr>
          <p:cNvSpPr txBox="1"/>
          <p:nvPr/>
        </p:nvSpPr>
        <p:spPr>
          <a:xfrm>
            <a:off x="838200" y="3592512"/>
            <a:ext cx="5331691" cy="16812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TW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</a:t>
            </a:r>
            <a:r>
              <a:rPr lang="zh-TW" alt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建立空間權重</a:t>
            </a:r>
            <a:endParaRPr lang="zh-TW" alt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ax = 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np.arange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(-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bil_pad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bil_pad+</a:t>
            </a:r>
            <a:r>
              <a:rPr lang="en-US" altLang="zh-TW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xx, 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yy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np.meshgrid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(ax, ax)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spatial_weights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np.exp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(-(xx**</a:t>
            </a:r>
            <a:r>
              <a:rPr lang="en-US" altLang="zh-TW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+ 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yy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**</a:t>
            </a:r>
            <a:r>
              <a:rPr lang="en-US" altLang="zh-TW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/ (</a:t>
            </a:r>
            <a:r>
              <a:rPr lang="en-US" altLang="zh-TW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* 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sigma_s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** </a:t>
            </a:r>
            <a:r>
              <a:rPr lang="en-US" altLang="zh-TW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9E5F002-753B-9A44-55BB-52B928A71331}"/>
              </a:ext>
            </a:extLst>
          </p:cNvPr>
          <p:cNvSpPr txBox="1"/>
          <p:nvPr/>
        </p:nvSpPr>
        <p:spPr>
          <a:xfrm>
            <a:off x="6262254" y="3649863"/>
            <a:ext cx="5800437" cy="13580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TW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</a:t>
            </a:r>
            <a:r>
              <a:rPr lang="zh-TW" alt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計算亮度差異權重</a:t>
            </a:r>
            <a:endParaRPr lang="zh-TW" alt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intensity_diff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region - image[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j]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range_weights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np.exp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(-(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intensity_diff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**</a:t>
            </a:r>
            <a:r>
              <a:rPr lang="en-US" altLang="zh-TW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 / (</a:t>
            </a:r>
            <a:r>
              <a:rPr lang="en-US" altLang="zh-TW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* 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sigma_r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**</a:t>
            </a:r>
            <a:r>
              <a:rPr lang="en-US" altLang="zh-TW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E6AF725F-C01E-A1C3-48FD-78BB2EF881EB}"/>
              </a:ext>
            </a:extLst>
          </p:cNvPr>
          <p:cNvSpPr/>
          <p:nvPr/>
        </p:nvSpPr>
        <p:spPr>
          <a:xfrm>
            <a:off x="584201" y="3391765"/>
            <a:ext cx="415636" cy="40149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1.</a:t>
            </a:r>
            <a:endParaRPr lang="zh-TW" altLang="en-US" dirty="0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80EC51BB-3CB1-30AD-CE82-8FBF571AF5AF}"/>
              </a:ext>
            </a:extLst>
          </p:cNvPr>
          <p:cNvSpPr/>
          <p:nvPr/>
        </p:nvSpPr>
        <p:spPr>
          <a:xfrm>
            <a:off x="6216072" y="3393554"/>
            <a:ext cx="415636" cy="40149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2.</a:t>
            </a:r>
            <a:endParaRPr lang="zh-TW" altLang="en-US" dirty="0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25527152-BDCF-1E25-F9E4-F0186E7650DB}"/>
              </a:ext>
            </a:extLst>
          </p:cNvPr>
          <p:cNvSpPr/>
          <p:nvPr/>
        </p:nvSpPr>
        <p:spPr>
          <a:xfrm>
            <a:off x="2433782" y="1464415"/>
            <a:ext cx="415636" cy="40149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1.</a:t>
            </a:r>
            <a:endParaRPr lang="zh-TW" altLang="en-US" dirty="0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CD1F389C-26DD-66E7-91BC-9342E225744C}"/>
              </a:ext>
            </a:extLst>
          </p:cNvPr>
          <p:cNvSpPr/>
          <p:nvPr/>
        </p:nvSpPr>
        <p:spPr>
          <a:xfrm>
            <a:off x="4174836" y="1445626"/>
            <a:ext cx="415636" cy="40149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2.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145506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92E52796-C782-0ACC-83F3-DDCB36516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6787601C-8DF3-B412-9049-73A80CD916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altLang="zh-TW" dirty="0"/>
              <a:t>Part 3. </a:t>
            </a:r>
            <a:r>
              <a:rPr lang="zh-TW" altLang="en-US" dirty="0"/>
              <a:t>雙邊濾波</a:t>
            </a:r>
            <a:endParaRPr dirty="0"/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9B3956E1-C9B2-D96B-E5E6-059D5E82121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助教</a:t>
            </a:r>
            <a:r>
              <a:rPr lang="en-US" dirty="0"/>
              <a:t> 陳立堯</a:t>
            </a:r>
            <a:endParaRPr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7EB2C09-FF4D-2F80-3481-73E3D7753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0688"/>
            <a:ext cx="5534797" cy="9050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Google Shape;108;p3">
            <a:extLst>
              <a:ext uri="{FF2B5EF4-FFF2-40B4-BE49-F238E27FC236}">
                <a16:creationId xmlns:a16="http://schemas.microsoft.com/office/drawing/2014/main" id="{A98946F9-B430-9563-5A2C-07B3529295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2770909"/>
            <a:ext cx="10515600" cy="3396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r>
              <a:rPr lang="zh-TW" altLang="en-US" sz="2000" dirty="0">
                <a:solidFill>
                  <a:schemeClr val="tx1"/>
                </a:solidFill>
              </a:rPr>
              <a:t>最後把兩個結果相乘，歸一化</a:t>
            </a:r>
            <a:r>
              <a:rPr lang="en-US" altLang="zh-TW" sz="2000" dirty="0">
                <a:solidFill>
                  <a:schemeClr val="tx1"/>
                </a:solidFill>
              </a:rPr>
              <a:t>(/Wp)</a:t>
            </a:r>
          </a:p>
          <a:p>
            <a:pPr marL="0" lvl="0" indent="0">
              <a:lnSpc>
                <a:spcPct val="150000"/>
              </a:lnSpc>
              <a:spcBef>
                <a:spcPts val="0"/>
              </a:spcBef>
              <a:buSzPts val="2800"/>
              <a:buNone/>
            </a:pPr>
            <a:endParaRPr lang="en-US" altLang="zh-TW" sz="2000" dirty="0">
              <a:solidFill>
                <a:schemeClr val="tx1"/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F346BA1-922C-FCAA-E200-897422FB43E2}"/>
              </a:ext>
            </a:extLst>
          </p:cNvPr>
          <p:cNvSpPr txBox="1"/>
          <p:nvPr/>
        </p:nvSpPr>
        <p:spPr>
          <a:xfrm>
            <a:off x="838200" y="3588743"/>
            <a:ext cx="6096000" cy="13580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weights = 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spatial_weights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* 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range_weights</a:t>
            </a:r>
            <a:endParaRPr lang="en-US" altLang="zh-TW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Wp = 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</a:t>
            </a:r>
            <a:r>
              <a:rPr lang="en-US" altLang="zh-TW" b="0" dirty="0" err="1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sum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(weights)</a:t>
            </a:r>
          </a:p>
          <a:p>
            <a:pPr>
              <a:lnSpc>
                <a:spcPct val="150000"/>
              </a:lnSpc>
              <a:buNone/>
            </a:pPr>
            <a:endParaRPr lang="en-US" altLang="zh-TW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bil_filter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j] = 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</a:t>
            </a:r>
            <a:r>
              <a:rPr lang="en-US" altLang="zh-TW" b="0" dirty="0" err="1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sum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(region * weights) / Wp</a:t>
            </a: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B33CA128-39CC-26F6-CE0C-408A7E91B0A4}"/>
              </a:ext>
            </a:extLst>
          </p:cNvPr>
          <p:cNvSpPr/>
          <p:nvPr/>
        </p:nvSpPr>
        <p:spPr>
          <a:xfrm>
            <a:off x="3278910" y="2143188"/>
            <a:ext cx="508000" cy="4987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22437F4E-4F80-61E7-AEF3-1A0E8DFDF21E}"/>
              </a:ext>
            </a:extLst>
          </p:cNvPr>
          <p:cNvSpPr/>
          <p:nvPr/>
        </p:nvSpPr>
        <p:spPr>
          <a:xfrm>
            <a:off x="4890655" y="2143187"/>
            <a:ext cx="508000" cy="4987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A2FA4D2-1FC5-4810-2C5F-C478BE259491}"/>
              </a:ext>
            </a:extLst>
          </p:cNvPr>
          <p:cNvSpPr/>
          <p:nvPr/>
        </p:nvSpPr>
        <p:spPr>
          <a:xfrm>
            <a:off x="3605598" y="2508522"/>
            <a:ext cx="938693" cy="262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距離衰減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E12A3E2-E621-0629-D2C1-9CDC361F830A}"/>
              </a:ext>
            </a:extLst>
          </p:cNvPr>
          <p:cNvSpPr/>
          <p:nvPr/>
        </p:nvSpPr>
        <p:spPr>
          <a:xfrm>
            <a:off x="5275672" y="2521926"/>
            <a:ext cx="1097325" cy="2623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顏色值衰減</a:t>
            </a:r>
          </a:p>
        </p:txBody>
      </p:sp>
    </p:spTree>
    <p:extLst>
      <p:ext uri="{BB962C8B-B14F-4D97-AF65-F5344CB8AC3E}">
        <p14:creationId xmlns:p14="http://schemas.microsoft.com/office/powerpoint/2010/main" val="15511766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DD8FA636-DA3A-6BD2-42FB-878EAE880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7E59233F-E1E8-E6E8-3176-44056A50A8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 altLang="en-US" dirty="0"/>
              <a:t>本日作業 </a:t>
            </a:r>
            <a:r>
              <a:rPr lang="en-US" altLang="zh-TW" dirty="0"/>
              <a:t>(</a:t>
            </a:r>
            <a:r>
              <a:rPr lang="zh-TW" altLang="en-US" dirty="0"/>
              <a:t>第二周</a:t>
            </a:r>
            <a:r>
              <a:rPr lang="en-US" altLang="zh-TW" dirty="0"/>
              <a:t>)</a:t>
            </a:r>
            <a:endParaRPr dirty="0"/>
          </a:p>
        </p:txBody>
      </p:sp>
      <p:sp>
        <p:nvSpPr>
          <p:cNvPr id="108" name="Google Shape;108;p3">
            <a:extLst>
              <a:ext uri="{FF2B5EF4-FFF2-40B4-BE49-F238E27FC236}">
                <a16:creationId xmlns:a16="http://schemas.microsoft.com/office/drawing/2014/main" id="{2E4E7904-3A71-8390-A722-6CB93CF6F4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zh-TW" altLang="en-US" dirty="0"/>
              <a:t>將一張圖生成雜訊，接著使用四種濾波器去躁</a:t>
            </a:r>
            <a:endParaRPr lang="en-US" altLang="zh-TW" dirty="0"/>
          </a:p>
          <a:p>
            <a:pPr marL="114300" indent="0">
              <a:buNone/>
            </a:pPr>
            <a:r>
              <a:rPr lang="zh-TW" altLang="en-US" dirty="0"/>
              <a:t>比較四種濾波器結果後，說明你所看到的效果差異</a:t>
            </a:r>
            <a:endParaRPr lang="en-US" altLang="zh-TW" dirty="0"/>
          </a:p>
          <a:p>
            <a:pPr marL="114300" indent="0">
              <a:buNone/>
            </a:pPr>
            <a:r>
              <a:rPr lang="en-US" altLang="zh-TW" dirty="0"/>
              <a:t>(</a:t>
            </a:r>
            <a:r>
              <a:rPr lang="zh-TW" altLang="en-US" dirty="0"/>
              <a:t>可以使用表格、並且連結濾波原理說明</a:t>
            </a:r>
            <a:r>
              <a:rPr lang="en-US" altLang="zh-TW" dirty="0"/>
              <a:t>)</a:t>
            </a:r>
          </a:p>
          <a:p>
            <a:pPr marL="114300" indent="0">
              <a:buNone/>
            </a:pPr>
            <a:endParaRPr lang="en-US" altLang="zh-TW" dirty="0"/>
          </a:p>
          <a:p>
            <a:pPr marL="114300" indent="0">
              <a:buNone/>
            </a:pPr>
            <a:r>
              <a:rPr lang="zh-TW" altLang="en-US" dirty="0"/>
              <a:t>最後放到</a:t>
            </a:r>
            <a:r>
              <a:rPr lang="en-US" altLang="zh-TW" dirty="0">
                <a:solidFill>
                  <a:srgbClr val="FF0000"/>
                </a:solidFill>
              </a:rPr>
              <a:t>PDF or PPT</a:t>
            </a:r>
          </a:p>
          <a:p>
            <a:pPr marL="114300" indent="0">
              <a:buNone/>
            </a:pPr>
            <a:r>
              <a:rPr lang="en-US" altLang="zh-TW" dirty="0">
                <a:solidFill>
                  <a:schemeClr val="tx1"/>
                </a:solidFill>
              </a:rPr>
              <a:t>(</a:t>
            </a:r>
            <a:r>
              <a:rPr lang="zh-TW" altLang="en-US" dirty="0">
                <a:solidFill>
                  <a:schemeClr val="tx1"/>
                </a:solidFill>
              </a:rPr>
              <a:t>預計</a:t>
            </a:r>
            <a:r>
              <a:rPr lang="en-US" altLang="zh-TW" dirty="0">
                <a:solidFill>
                  <a:schemeClr val="tx1"/>
                </a:solidFill>
              </a:rPr>
              <a:t>PDF</a:t>
            </a:r>
            <a:r>
              <a:rPr lang="zh-TW" altLang="en-US" dirty="0">
                <a:solidFill>
                  <a:schemeClr val="tx1"/>
                </a:solidFill>
              </a:rPr>
              <a:t>裡面會有原圖、加入躁點後的原圖、四種濾波後的圖，還有詳細的觀察與比較</a:t>
            </a:r>
            <a:r>
              <a:rPr lang="en-US" altLang="zh-TW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50C69ECA-A007-FE03-16FD-7DC008C4027B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助教</a:t>
            </a:r>
            <a:r>
              <a:rPr lang="en-US" dirty="0"/>
              <a:t> 陳立堯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304979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D0588DA8-DAA2-A5D1-13DE-0B84ABF94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46AF0826-A1A5-4281-B69A-D1999B3F74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altLang="zh-TW" dirty="0"/>
              <a:t>ex. </a:t>
            </a:r>
            <a:r>
              <a:rPr lang="zh-TW" altLang="en-US" dirty="0"/>
              <a:t>補充 </a:t>
            </a:r>
            <a:r>
              <a:rPr lang="en-US" altLang="zh-TW" dirty="0"/>
              <a:t>-</a:t>
            </a:r>
            <a:r>
              <a:rPr lang="zh-TW" altLang="en-US" dirty="0"/>
              <a:t> 加入雜訊</a:t>
            </a:r>
            <a:r>
              <a:rPr lang="en-US" altLang="zh-TW" dirty="0"/>
              <a:t>1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高斯雜訊</a:t>
            </a:r>
            <a:r>
              <a:rPr lang="en-US" altLang="zh-TW" dirty="0"/>
              <a:t>)</a:t>
            </a:r>
            <a:endParaRPr dirty="0"/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478188D6-FA7A-D0FD-1350-EAACBFBD15F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助教</a:t>
            </a:r>
            <a:r>
              <a:rPr lang="en-US" dirty="0"/>
              <a:t> 陳立堯</a:t>
            </a:r>
            <a:endParaRPr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CFC77F9-4CD9-B595-04AE-0B8C0BF1100A}"/>
              </a:ext>
            </a:extLst>
          </p:cNvPr>
          <p:cNvSpPr txBox="1"/>
          <p:nvPr/>
        </p:nvSpPr>
        <p:spPr>
          <a:xfrm>
            <a:off x="838200" y="1690688"/>
            <a:ext cx="6096000" cy="36202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TW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from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skimage.util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random_noise</a:t>
            </a:r>
            <a:b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altLang="zh-TW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TW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zh-TW" alt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生成與影像相同大小的高斯雜訊</a:t>
            </a:r>
            <a:endParaRPr lang="zh-TW" alt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gaussian_noise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np.random.normal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20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zh-TW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25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image.shape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TW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zh-TW" alt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將雜訊加到影像上</a:t>
            </a:r>
            <a:endParaRPr lang="zh-TW" alt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noisy_image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image + 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gaussian_noise</a:t>
            </a:r>
            <a:endParaRPr lang="en-US" altLang="zh-TW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TW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zh-TW" alt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限制像素值在 </a:t>
            </a:r>
            <a:r>
              <a:rPr lang="en-US" altLang="zh-TW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0-255 </a:t>
            </a:r>
            <a:r>
              <a:rPr lang="zh-TW" alt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範圍內</a:t>
            </a:r>
            <a:endParaRPr lang="zh-TW" alt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noisy_image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np.clip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noisy_image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zh-TW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zh-TW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255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plt.imshow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noisy_image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cmap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'gray'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3547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0A6E82BA-E030-BAD4-4654-3E7DBA640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68C43431-6197-804B-5DE4-4311480F8E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altLang="zh-TW" dirty="0"/>
              <a:t>ex. </a:t>
            </a:r>
            <a:r>
              <a:rPr lang="zh-TW" altLang="en-US" dirty="0"/>
              <a:t>補充 </a:t>
            </a:r>
            <a:r>
              <a:rPr lang="en-US" altLang="zh-TW" dirty="0"/>
              <a:t>-</a:t>
            </a:r>
            <a:r>
              <a:rPr lang="zh-TW" altLang="en-US" dirty="0"/>
              <a:t> 加入雜訊</a:t>
            </a:r>
            <a:r>
              <a:rPr lang="en-US" altLang="zh-TW" dirty="0"/>
              <a:t>2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椒鹽雜訊</a:t>
            </a:r>
            <a:r>
              <a:rPr lang="en-US" altLang="zh-TW" dirty="0"/>
              <a:t>)</a:t>
            </a:r>
            <a:endParaRPr dirty="0"/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287A942C-E14E-CE27-A553-568DF3FAF6FD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助教</a:t>
            </a:r>
            <a:r>
              <a:rPr lang="en-US" dirty="0"/>
              <a:t> 陳立堯</a:t>
            </a:r>
            <a:endParaRPr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5BF1132-C80A-8278-EA2D-6121C9D4EB81}"/>
              </a:ext>
            </a:extLst>
          </p:cNvPr>
          <p:cNvSpPr txBox="1"/>
          <p:nvPr/>
        </p:nvSpPr>
        <p:spPr>
          <a:xfrm>
            <a:off x="905163" y="1690688"/>
            <a:ext cx="6096000" cy="42665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noisy_image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image.copy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salt_prob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zh-TW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0.05</a:t>
            </a:r>
            <a:endParaRPr lang="en-US" altLang="zh-TW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pepper_prob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zh-TW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0.05</a:t>
            </a:r>
            <a:endParaRPr lang="en-US" altLang="zh-TW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TW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zh-TW" alt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生成隨機矩陣</a:t>
            </a:r>
            <a:endParaRPr lang="zh-TW" alt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random_matrix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np.random.random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image.shape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[:</a:t>
            </a:r>
            <a:r>
              <a:rPr lang="en-US" altLang="zh-TW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])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TW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zh-TW" alt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添加鹽雜訊</a:t>
            </a:r>
            <a:r>
              <a:rPr lang="en-US" altLang="zh-TW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zh-TW" alt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白點 </a:t>
            </a:r>
            <a:r>
              <a:rPr lang="en-US" altLang="zh-TW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= 255)</a:t>
            </a:r>
            <a:endParaRPr lang="zh-TW" alt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noisy_image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random_matrix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&lt; 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salt_prob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 = </a:t>
            </a:r>
            <a:r>
              <a:rPr lang="en-US" altLang="zh-TW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255</a:t>
            </a:r>
            <a:endParaRPr lang="en-US" altLang="zh-TW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TW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</a:t>
            </a:r>
            <a:r>
              <a:rPr lang="zh-TW" alt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添加椒雜訊</a:t>
            </a:r>
            <a:r>
              <a:rPr lang="en-US" altLang="zh-TW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zh-TW" alt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黑點 </a:t>
            </a:r>
            <a:r>
              <a:rPr lang="en-US" altLang="zh-TW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= 0)</a:t>
            </a:r>
            <a:endParaRPr lang="zh-TW" altLang="en-US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noisy_image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random_matrix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&gt; </a:t>
            </a:r>
            <a:r>
              <a:rPr lang="en-US" altLang="zh-TW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- 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pepper_prob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 = </a:t>
            </a:r>
            <a:r>
              <a:rPr lang="en-US" altLang="zh-TW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0</a:t>
            </a:r>
            <a:endParaRPr lang="en-US" altLang="zh-TW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plt.imshow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noisy_image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cmap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altLang="zh-TW" b="0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'gray'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056505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726BAF4F-3449-739A-A481-0F298FEF4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3E9E066B-C0C7-CB57-8B69-34CC9A1820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 altLang="en-US" dirty="0"/>
              <a:t>附錄 </a:t>
            </a:r>
            <a:r>
              <a:rPr lang="en-US" altLang="zh-TW" dirty="0"/>
              <a:t>– Padding</a:t>
            </a:r>
            <a:r>
              <a:rPr lang="zh-TW" altLang="en-US" dirty="0"/>
              <a:t>複習</a:t>
            </a:r>
            <a:endParaRPr dirty="0"/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D3C8E512-C2DF-3291-A095-CA8114831BF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助教</a:t>
            </a:r>
            <a:r>
              <a:rPr lang="en-US" dirty="0"/>
              <a:t> 陳立堯</a:t>
            </a:r>
            <a:endParaRPr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A224B7A-3C5B-9AF6-87E8-9195F13EF445}"/>
              </a:ext>
            </a:extLst>
          </p:cNvPr>
          <p:cNvSpPr txBox="1"/>
          <p:nvPr/>
        </p:nvSpPr>
        <p:spPr>
          <a:xfrm>
            <a:off x="921327" y="1827191"/>
            <a:ext cx="6096000" cy="26507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kh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kw = 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mean_kernel.shape</a:t>
            </a:r>
            <a:endParaRPr lang="en-US" altLang="zh-TW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pad_h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kh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// </a:t>
            </a:r>
            <a:r>
              <a:rPr lang="en-US" altLang="zh-TW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endParaRPr lang="en-US" altLang="zh-TW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pad_w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kw // </a:t>
            </a:r>
            <a:r>
              <a:rPr lang="en-US" altLang="zh-TW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endParaRPr lang="en-US" altLang="zh-TW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zh-TW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padded_image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np.zeros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((h+</a:t>
            </a:r>
            <a:r>
              <a:rPr lang="en-US" altLang="zh-TW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pad_h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w+</a:t>
            </a:r>
            <a:r>
              <a:rPr lang="en-US" altLang="zh-TW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*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pad_w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padded_image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pad_h:pad_h+h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pad_w:pad_w+w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] = image</a:t>
            </a:r>
            <a:b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</a:br>
            <a:endParaRPr lang="en-US" altLang="zh-TW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TW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padded_image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489318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01AA4A86-B522-1EBB-7E16-316EBD616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>
            <a:extLst>
              <a:ext uri="{FF2B5EF4-FFF2-40B4-BE49-F238E27FC236}">
                <a16:creationId xmlns:a16="http://schemas.microsoft.com/office/drawing/2014/main" id="{D7EA3919-415F-662F-1532-34936EAA39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zh-TW" altLang="en-US" dirty="0"/>
              <a:t>附錄 </a:t>
            </a:r>
            <a:r>
              <a:rPr lang="en-US" altLang="zh-TW" dirty="0"/>
              <a:t>– </a:t>
            </a:r>
            <a:r>
              <a:rPr lang="zh-TW" altLang="en-US" dirty="0"/>
              <a:t>捲積複習</a:t>
            </a:r>
            <a:endParaRPr dirty="0"/>
          </a:p>
        </p:txBody>
      </p:sp>
      <p:sp>
        <p:nvSpPr>
          <p:cNvPr id="109" name="Google Shape;109;p3">
            <a:extLst>
              <a:ext uri="{FF2B5EF4-FFF2-40B4-BE49-F238E27FC236}">
                <a16:creationId xmlns:a16="http://schemas.microsoft.com/office/drawing/2014/main" id="{C03F6818-E5B1-AFF1-120C-092392D4521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助教</a:t>
            </a:r>
            <a:r>
              <a:rPr lang="en-US" dirty="0"/>
              <a:t> 陳立堯</a:t>
            </a:r>
            <a:endParaRPr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C7C332D-B0BC-B58D-A1F8-B2D1AEEEF8A8}"/>
              </a:ext>
            </a:extLst>
          </p:cNvPr>
          <p:cNvSpPr txBox="1"/>
          <p:nvPr/>
        </p:nvSpPr>
        <p:spPr>
          <a:xfrm>
            <a:off x="912091" y="1604371"/>
            <a:ext cx="6096000" cy="20043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output = 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np.zeros_like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(image)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TW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range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(h):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</a:t>
            </a:r>
            <a:r>
              <a:rPr lang="en-US" altLang="zh-TW" b="0" dirty="0">
                <a:solidFill>
                  <a:srgbClr val="9723B4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j </a:t>
            </a:r>
            <a:r>
              <a:rPr lang="en-US" altLang="zh-TW" b="0" dirty="0">
                <a:solidFill>
                  <a:srgbClr val="0000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altLang="zh-TW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range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(w):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region = 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padded_image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i:i+kh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j:j+kw]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    output[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i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j] = 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np.</a:t>
            </a:r>
            <a:r>
              <a:rPr lang="en-US" altLang="zh-TW" b="0" dirty="0" err="1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sum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altLang="zh-TW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mean_kernel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* region)</a:t>
            </a:r>
          </a:p>
          <a:p>
            <a:pPr>
              <a:lnSpc>
                <a:spcPct val="150000"/>
              </a:lnSpc>
              <a:buNone/>
            </a:pPr>
            <a:r>
              <a:rPr lang="en-US" altLang="zh-TW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US" altLang="zh-TW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(output)</a:t>
            </a:r>
          </a:p>
        </p:txBody>
      </p:sp>
    </p:spTree>
    <p:extLst>
      <p:ext uri="{BB962C8B-B14F-4D97-AF65-F5344CB8AC3E}">
        <p14:creationId xmlns:p14="http://schemas.microsoft.com/office/powerpoint/2010/main" val="1127274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3170</TotalTime>
  <Words>1758</Words>
  <Application>Microsoft Office PowerPoint</Application>
  <PresentationFormat>寬螢幕</PresentationFormat>
  <Paragraphs>195</Paragraphs>
  <Slides>24</Slides>
  <Notes>24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29" baseType="lpstr">
      <vt:lpstr>Arial</vt:lpstr>
      <vt:lpstr>Calibri</vt:lpstr>
      <vt:lpstr>Cambria Math</vt:lpstr>
      <vt:lpstr>Courier New</vt:lpstr>
      <vt:lpstr>Office 佈景主題</vt:lpstr>
      <vt:lpstr>影像處理實習</vt:lpstr>
      <vt:lpstr>濾波簡介</vt:lpstr>
      <vt:lpstr>Part 1. 前言</vt:lpstr>
      <vt:lpstr>Part 1. 關於空間濾波</vt:lpstr>
      <vt:lpstr>平滑濾波器(線性)</vt:lpstr>
      <vt:lpstr>Part 2. 均值濾波</vt:lpstr>
      <vt:lpstr>Part 2. 高斯分布 (成為濾波前)</vt:lpstr>
      <vt:lpstr>Part 2. 高斯濾波</vt:lpstr>
      <vt:lpstr>Part 2. 高斯濾波</vt:lpstr>
      <vt:lpstr>Part 2. 高斯濾波</vt:lpstr>
      <vt:lpstr>Part 2. 高斯濾波實作</vt:lpstr>
      <vt:lpstr>平滑濾波器 (非線性)</vt:lpstr>
      <vt:lpstr>Part 3. 中值濾波</vt:lpstr>
      <vt:lpstr>Part 3. 中值濾波</vt:lpstr>
      <vt:lpstr>本日作業 (第一周)</vt:lpstr>
      <vt:lpstr>Part 3. 雙邊濾波</vt:lpstr>
      <vt:lpstr>Part 3. 雙邊濾波</vt:lpstr>
      <vt:lpstr>Part 3. 雙邊濾波</vt:lpstr>
      <vt:lpstr>Part 3. 雙邊濾波</vt:lpstr>
      <vt:lpstr>本日作業 (第二周)</vt:lpstr>
      <vt:lpstr>ex. 補充 - 加入雜訊1 (高斯雜訊)</vt:lpstr>
      <vt:lpstr>ex. 補充 - 加入雜訊2 (椒鹽雜訊)</vt:lpstr>
      <vt:lpstr>附錄 – Padding複習</vt:lpstr>
      <vt:lpstr>附錄 – 捲積複習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立堯 陳</dc:creator>
  <cp:lastModifiedBy>陳立堯</cp:lastModifiedBy>
  <cp:revision>13</cp:revision>
  <dcterms:created xsi:type="dcterms:W3CDTF">2025-09-17T03:10:46Z</dcterms:created>
  <dcterms:modified xsi:type="dcterms:W3CDTF">2025-10-27T13:40:21Z</dcterms:modified>
</cp:coreProperties>
</file>